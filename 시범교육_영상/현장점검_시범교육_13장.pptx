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안녕하세요. 오늘은 무등록 건설기계정비업이 의심되는 업체를, 현장에서 어떻게 점검하는지 살펴보겠습니다. 그래서 점검은 꼼꼼하게, 판단은 신중하게 해야 합니다. 시작하기 전에 한 가지만 기억해 주세요. 의심은 출발점일 뿐, 결론이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점검은 여덟 단계로 진행합니다. 장비, 작업 주체, 작업 내용, 대가와 영업 형태, 사업자와 장소 관계, 등록 여부와 범위, 기록, 그리고 관할 기관 전달입니다. 법령 적용과 최종 판단은 관할 행정기관이 합니다. 우리는 그 판단에 필요한 사실을 정확하게 모으는 역할입니다.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사례를 하나 보겠습니다. 한 공구점 안쪽 작업 공간에서 지게차를 수리하고 있습니다. 정비업체 표지는 보이지 않습니다. 등록업체는 사업장에 표지를 달아야 하니, 확인해 볼 이유는 됩니다. 하지만 그것만으로 무등록이라고 볼 수는 없습니다. 첫 번째 단계는 장비 확인입니다. 타이어식 지게차는 대부분 건설기계입니다. 다만 전동식이면서 솔리드타이어를 달고, 도로가 아닌 곳에서만 쓰는 지게차는 제외됩니다. 솔리드타이어는 공기를 넣지 않는 통타이어를 말합니다. 그래서 등록번호판, 동력 방식, 타이어 종류, 도로 운행 여부를 가장 먼저 기록합니다.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번째 단계는 작업 주체입니다. 누가 수리를 의뢰받았는지, 실제로 누가 작업했는지 확인합니다. 공구점 사업자가 직접 했는지, 공간을 빌린 다른 사업자가 했는지 나눠서 봅니다. 장비를 가진 회사의 직원이 자기 회사 장비를 고치는 경우도 있습니다. 남의 장비를 맡아 고친 것인지, 자기 장비를 고친 것인지는 판단을 크게 바꿉니다. 다만 자기 장비라도, 직접 정비할 수 있는 범위는 법령에 따로 정해져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단계는 작업 내용입니다. 부품만 판매했는지, 직접 분해하고 교체했는지 구분합니다. 법령은 다섯 가지 가벼운 작업을 정비업 범위에서 제외합니다. 오일 보충, 필터류 교환, 배터리와 전구 교환, 타이어 점검과 트랙 장력 조정, 창유리 교환입니다. 반대로 엔진이나 유압장치를 분해했다면 살펴볼 필요가 커집니다.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네 번째 단계는 대가와 영업 형태입니다. 정비업은 정비를 업으로 하는 것을 말합니다. 수리비를 받았는지, 견적서나 거래명세서가 있는지, 비슷한 작업을 계속해 왔는지 봅니다. 부품값에 수리비를 포함해 받는 경우도 있습니다. 그러니 무료로 해 줬다는 설명만으로 판단을 끝내지 마세요.</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다섯 번째 단계는 사업자와 장소 사용 관계입니다. 공구점과 작업자가 같은 사업자인지, 임대나 위탁 관계인지 확인합니다. 업체가 스스로 보여 주는 계약서나 명함은 기록할 수 있습니다. 하지만 자료 제출을 강요하거나 사무실 안을 살펴보는 일은 하지 않습니다. 보여 주지 않으면, 보여 주지 않았다고만 적습니다.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번째 단계는 등록 여부와 허용 범위입니다. 사업자등록증은 세무 등록일 뿐, 정비업 등록증이 아닙니다. 협회가 통보받은 등록 자료나 관할 기관 확인으로 대조합니다. 등록 여부와 업종, 사업장 소재지를 확인합니다. 업종마다 정비할 수 있는 항목이 다르고, 종합정비업도 기종이 정해진 경우가 있습니다. 현장에 나가서 하는 이동정비는 응급조치와 장치 탈부착이 중심이고, 분해 정비는 빠져 있습니다. 그러니 작업 장소와 작업 내용을 함께 기록합니다.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번째 단계는 기록입니다. 관찰한 사실, 들은 진술, 점검자의 의견을 칸을 나눠 적습니다. 예를 들어, 무등록 정비 중이라고 쓰지 않습니다. 대신 이렇게 씁니다. 오전 열 시 이십 분, 공구점 안에서 지게차 유압장치를 분해하는 작업을 확인함. 작업자는 수리비 삼십만 원을 받기로 했다고 말함. 사진은 업체 동의를 받아 찍고, 얼굴이나 개인정보가 드러나지 않게 주의합니다.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현장 질문은 조사하듯 하지 않고, 협조를 구하는 말투로 합니다. 이 장비는 어느 업체 건가요? 수리는 어느 분이 맡으셨나요? 수리비는 어디로 받으시나요? 답변을 거부하면 거부했다는 사실만 기록하고, 더 요구하지 않습니다. 작업을 멈추라고 하거나, 확인서에 서명하라고 강요하지도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여덟 번째 단계는 관할 기관 전달입니다. 출입과 검사, 질문 권한은 행정기관 공무원에게 있습니다. 우리는 현장에서 위반이라고 단정하거나 처벌을 말하지 않습니다. 확인한 사실을 정리해 관할 시청, 군청, 구청에 전달합니다. 이후 조사와 처분은 행정기관이 판단합니다. 업체가 등록 절차를 물으면, 관할 기관의 안내 창구를 알려 주면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그럼 연습해 볼까요? 첫째, 공구점 직원이 부품을 팔고 필터만 갈아 줬습니다. 필터 교환은 정비업 범위에서 제외되는 작업입니다. 둘째, 공간을 빌린 사람이 유압펌프를 분해하고 수리비를 따로 받았습니다. 등록 여부를 대조하고, 확인한 사실을 관할 기관에 전달할 사안입니다. 셋째, 공장 안에서만 쓰는 전동 솔리드타이어 지게차를 고쳤습니다. 건설기계에서 제외되는 장비일 수 있으니, 해당 여부부터 확인해야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마지막으로 복습해 보겠습니다. 표지가 없으면 무등록일까요? 사업자등록증이 있으면 정비업 등록도 된 걸까요? 두 질문 모두 답은 아니요입니다. 현장에서 헷갈릴 때는 결론을 내리지 말고, 사실만 남기세요. 사실은 정확하게, 판단은 신중하게. 수고하셨습니다.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914400"/>
            <a:ext cx="109728" cy="237744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822960"/>
            <a:ext cx="10058400" cy="1828800"/>
          </a:xfrm>
          <a:prstGeom prst="rect">
            <a:avLst/>
          </a:prstGeom>
          <a:noFill/>
        </p:spPr>
        <p:txBody>
          <a:bodyPr wrap="square" anchor="t" lIns="45720" rIns="45720">
            <a:spAutoFit/>
          </a:bodyPr>
          <a:lstStyle/>
          <a:p>
            <a:pPr algn="l"/>
            <a:r>
              <a:rPr sz="4800" b="1">
                <a:solidFill>
                  <a:srgbClr val="FFFFFF"/>
                </a:solidFill>
                <a:latin typeface="맑은 고딕"/>
                <a:ea typeface="맑은 고딕"/>
              </a:rPr>
              <a:t>무등록 건설기계정비업 의심업체</a:t>
            </a:r>
          </a:p>
          <a:p>
            <a:pPr algn="l"/>
            <a:r>
              <a:rPr sz="4800" b="1">
                <a:solidFill>
                  <a:srgbClr val="FFFFFF"/>
                </a:solidFill>
                <a:latin typeface="맑은 고딕"/>
                <a:ea typeface="맑은 고딕"/>
              </a:rPr>
              <a:t>현장점검 실무교육</a:t>
            </a:r>
          </a:p>
        </p:txBody>
      </p:sp>
      <p:sp>
        <p:nvSpPr>
          <p:cNvPr id="5" name="TextBox 4"/>
          <p:cNvSpPr txBox="1"/>
          <p:nvPr/>
        </p:nvSpPr>
        <p:spPr>
          <a:xfrm>
            <a:off x="1051560" y="2697480"/>
            <a:ext cx="10058400" cy="548640"/>
          </a:xfrm>
          <a:prstGeom prst="rect">
            <a:avLst/>
          </a:prstGeom>
          <a:noFill/>
        </p:spPr>
        <p:txBody>
          <a:bodyPr wrap="square" anchor="t" lIns="45720" rIns="45720">
            <a:spAutoFit/>
          </a:bodyPr>
          <a:lstStyle/>
          <a:p>
            <a:pPr algn="l"/>
            <a:r>
              <a:rPr sz="2400" b="0">
                <a:solidFill>
                  <a:srgbClr val="C8D6E5"/>
                </a:solidFill>
                <a:latin typeface="맑은 고딕"/>
                <a:ea typeface="맑은 고딕"/>
              </a:rPr>
              <a:t>시범교육 · 대한건설기계정비협회 지도팀</a:t>
            </a:r>
          </a:p>
        </p:txBody>
      </p:sp>
      <p:sp>
        <p:nvSpPr>
          <p:cNvPr id="6" name="Rounded Rectangle 5"/>
          <p:cNvSpPr/>
          <p:nvPr/>
        </p:nvSpPr>
        <p:spPr>
          <a:xfrm>
            <a:off x="1051560" y="3657600"/>
            <a:ext cx="7498079" cy="96012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43000" y="3657600"/>
            <a:ext cx="7315199" cy="960120"/>
          </a:xfrm>
          <a:prstGeom prst="rect">
            <a:avLst/>
          </a:prstGeom>
          <a:noFill/>
        </p:spPr>
        <p:txBody>
          <a:bodyPr wrap="square" anchor="ctr" lIns="45720" rIns="45720">
            <a:spAutoFit/>
          </a:bodyPr>
          <a:lstStyle/>
          <a:p>
            <a:pPr algn="ctr"/>
            <a:r>
              <a:rPr sz="3200" b="1">
                <a:solidFill>
                  <a:srgbClr val="1F3A5F"/>
                </a:solidFill>
                <a:latin typeface="맑은 고딕"/>
                <a:ea typeface="맑은 고딕"/>
              </a:rPr>
              <a:t>의심은 출발점, 결론이 아닙니다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8778240" cy="786384"/>
          </a:xfrm>
          <a:prstGeom prst="rect">
            <a:avLst/>
          </a:prstGeom>
          <a:noFill/>
        </p:spPr>
        <p:txBody>
          <a:bodyPr wrap="square" anchor="ctr" lIns="45720" rIns="45720">
            <a:spAutoFit/>
          </a:bodyPr>
          <a:lstStyle/>
          <a:p>
            <a:pPr algn="l"/>
            <a:r>
              <a:rPr sz="3600" b="1">
                <a:solidFill>
                  <a:srgbClr val="FFFFFF"/>
                </a:solidFill>
                <a:latin typeface="맑은 고딕"/>
                <a:ea typeface="맑은 고딕"/>
              </a:rPr>
              <a:t>현장점검 8단계</a:t>
            </a:r>
          </a:p>
        </p:txBody>
      </p:sp>
      <p:sp>
        <p:nvSpPr>
          <p:cNvPr id="4" name="TextBox 3"/>
          <p:cNvSpPr txBox="1"/>
          <p:nvPr/>
        </p:nvSpPr>
        <p:spPr>
          <a:xfrm>
            <a:off x="9418320" y="320040"/>
            <a:ext cx="2468880" cy="502920"/>
          </a:xfrm>
          <a:prstGeom prst="rect">
            <a:avLst/>
          </a:prstGeom>
          <a:noFill/>
        </p:spPr>
        <p:txBody>
          <a:bodyPr wrap="square" anchor="ctr" lIns="45720" rIns="45720">
            <a:spAutoFit/>
          </a:bodyPr>
          <a:lstStyle/>
          <a:p>
            <a:pPr algn="r"/>
            <a:r>
              <a:rPr sz="1400" b="0">
                <a:solidFill>
                  <a:srgbClr val="C8D6E5"/>
                </a:solidFill>
                <a:latin typeface="맑은 고딕"/>
                <a:ea typeface="맑은 고딕"/>
              </a:rPr>
              <a:t>현장점검 실무교육  02 / 13</a:t>
            </a:r>
          </a:p>
        </p:txBody>
      </p:sp>
      <p:sp>
        <p:nvSpPr>
          <p:cNvPr id="5" name="Rounded Rectangle 4"/>
          <p:cNvSpPr/>
          <p:nvPr/>
        </p:nvSpPr>
        <p:spPr>
          <a:xfrm>
            <a:off x="548640" y="1463040"/>
            <a:ext cx="2606040" cy="1261872"/>
          </a:xfrm>
          <a:prstGeom prst="roundRect">
            <a:avLst>
              <a:gd name="adj" fmla="val 12000"/>
            </a:avLst>
          </a:prstGeom>
          <a:solidFill>
            <a:srgbClr val="EEF3F8"/>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36192"/>
            <a:ext cx="2423160" cy="548640"/>
          </a:xfrm>
          <a:prstGeom prst="rect">
            <a:avLst/>
          </a:prstGeom>
          <a:noFill/>
        </p:spPr>
        <p:txBody>
          <a:bodyPr wrap="square" anchor="t" lIns="45720" rIns="45720">
            <a:spAutoFit/>
          </a:bodyPr>
          <a:lstStyle/>
          <a:p>
            <a:pPr algn="ctr"/>
            <a:r>
              <a:rPr sz="3000" b="1">
                <a:solidFill>
                  <a:srgbClr val="0E7C86"/>
                </a:solidFill>
                <a:latin typeface="맑은 고딕"/>
                <a:ea typeface="맑은 고딕"/>
              </a:rPr>
              <a:t>①</a:t>
            </a:r>
          </a:p>
        </p:txBody>
      </p:sp>
      <p:sp>
        <p:nvSpPr>
          <p:cNvPr id="7" name="TextBox 6"/>
          <p:cNvSpPr txBox="1"/>
          <p:nvPr/>
        </p:nvSpPr>
        <p:spPr>
          <a:xfrm>
            <a:off x="640080" y="2029968"/>
            <a:ext cx="2423160" cy="594360"/>
          </a:xfrm>
          <a:prstGeom prst="rect">
            <a:avLst/>
          </a:prstGeom>
          <a:noFill/>
        </p:spPr>
        <p:txBody>
          <a:bodyPr wrap="square" anchor="t" lIns="45720" rIns="45720">
            <a:spAutoFit/>
          </a:bodyPr>
          <a:lstStyle/>
          <a:p>
            <a:pPr algn="ctr"/>
            <a:r>
              <a:rPr sz="2400" b="1">
                <a:solidFill>
                  <a:srgbClr val="1E293B"/>
                </a:solidFill>
                <a:latin typeface="맑은 고딕"/>
                <a:ea typeface="맑은 고딕"/>
              </a:rPr>
              <a:t>장비 확인</a:t>
            </a:r>
          </a:p>
        </p:txBody>
      </p:sp>
      <p:sp>
        <p:nvSpPr>
          <p:cNvPr id="8" name="Rounded Rectangle 7"/>
          <p:cNvSpPr/>
          <p:nvPr/>
        </p:nvSpPr>
        <p:spPr>
          <a:xfrm>
            <a:off x="3364992" y="1463040"/>
            <a:ext cx="2606040" cy="1261872"/>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56432" y="1536192"/>
            <a:ext cx="2423160" cy="548640"/>
          </a:xfrm>
          <a:prstGeom prst="rect">
            <a:avLst/>
          </a:prstGeom>
          <a:noFill/>
        </p:spPr>
        <p:txBody>
          <a:bodyPr wrap="square" anchor="t" lIns="45720" rIns="45720">
            <a:spAutoFit/>
          </a:bodyPr>
          <a:lstStyle/>
          <a:p>
            <a:pPr algn="ctr"/>
            <a:r>
              <a:rPr sz="3000" b="1">
                <a:solidFill>
                  <a:srgbClr val="0E7C86"/>
                </a:solidFill>
                <a:latin typeface="맑은 고딕"/>
                <a:ea typeface="맑은 고딕"/>
              </a:rPr>
              <a:t>②</a:t>
            </a:r>
          </a:p>
        </p:txBody>
      </p:sp>
      <p:sp>
        <p:nvSpPr>
          <p:cNvPr id="10" name="TextBox 9"/>
          <p:cNvSpPr txBox="1"/>
          <p:nvPr/>
        </p:nvSpPr>
        <p:spPr>
          <a:xfrm>
            <a:off x="3456432" y="2029968"/>
            <a:ext cx="2423160" cy="594360"/>
          </a:xfrm>
          <a:prstGeom prst="rect">
            <a:avLst/>
          </a:prstGeom>
          <a:noFill/>
        </p:spPr>
        <p:txBody>
          <a:bodyPr wrap="square" anchor="t" lIns="45720" rIns="45720">
            <a:spAutoFit/>
          </a:bodyPr>
          <a:lstStyle/>
          <a:p>
            <a:pPr algn="ctr"/>
            <a:r>
              <a:rPr sz="2400" b="1">
                <a:solidFill>
                  <a:srgbClr val="1E293B"/>
                </a:solidFill>
                <a:latin typeface="맑은 고딕"/>
                <a:ea typeface="맑은 고딕"/>
              </a:rPr>
              <a:t>작업 주체</a:t>
            </a:r>
          </a:p>
        </p:txBody>
      </p:sp>
      <p:sp>
        <p:nvSpPr>
          <p:cNvPr id="11" name="Rounded Rectangle 10"/>
          <p:cNvSpPr/>
          <p:nvPr/>
        </p:nvSpPr>
        <p:spPr>
          <a:xfrm>
            <a:off x="6181344" y="1463040"/>
            <a:ext cx="2606040" cy="1261872"/>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72783" y="1536192"/>
            <a:ext cx="2423160" cy="548640"/>
          </a:xfrm>
          <a:prstGeom prst="rect">
            <a:avLst/>
          </a:prstGeom>
          <a:noFill/>
        </p:spPr>
        <p:txBody>
          <a:bodyPr wrap="square" anchor="t" lIns="45720" rIns="45720">
            <a:spAutoFit/>
          </a:bodyPr>
          <a:lstStyle/>
          <a:p>
            <a:pPr algn="ctr"/>
            <a:r>
              <a:rPr sz="3000" b="1">
                <a:solidFill>
                  <a:srgbClr val="0E7C86"/>
                </a:solidFill>
                <a:latin typeface="맑은 고딕"/>
                <a:ea typeface="맑은 고딕"/>
              </a:rPr>
              <a:t>③</a:t>
            </a:r>
          </a:p>
        </p:txBody>
      </p:sp>
      <p:sp>
        <p:nvSpPr>
          <p:cNvPr id="13" name="TextBox 12"/>
          <p:cNvSpPr txBox="1"/>
          <p:nvPr/>
        </p:nvSpPr>
        <p:spPr>
          <a:xfrm>
            <a:off x="6272783" y="2029968"/>
            <a:ext cx="2423160" cy="594360"/>
          </a:xfrm>
          <a:prstGeom prst="rect">
            <a:avLst/>
          </a:prstGeom>
          <a:noFill/>
        </p:spPr>
        <p:txBody>
          <a:bodyPr wrap="square" anchor="t" lIns="45720" rIns="45720">
            <a:spAutoFit/>
          </a:bodyPr>
          <a:lstStyle/>
          <a:p>
            <a:pPr algn="ctr"/>
            <a:r>
              <a:rPr sz="2400" b="1">
                <a:solidFill>
                  <a:srgbClr val="1E293B"/>
                </a:solidFill>
                <a:latin typeface="맑은 고딕"/>
                <a:ea typeface="맑은 고딕"/>
              </a:rPr>
              <a:t>작업 내용</a:t>
            </a:r>
          </a:p>
        </p:txBody>
      </p:sp>
      <p:sp>
        <p:nvSpPr>
          <p:cNvPr id="14" name="Rounded Rectangle 13"/>
          <p:cNvSpPr/>
          <p:nvPr/>
        </p:nvSpPr>
        <p:spPr>
          <a:xfrm>
            <a:off x="8997696" y="1463040"/>
            <a:ext cx="2606040" cy="1261872"/>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89136" y="1536192"/>
            <a:ext cx="2423160" cy="548640"/>
          </a:xfrm>
          <a:prstGeom prst="rect">
            <a:avLst/>
          </a:prstGeom>
          <a:noFill/>
        </p:spPr>
        <p:txBody>
          <a:bodyPr wrap="square" anchor="t" lIns="45720" rIns="45720">
            <a:spAutoFit/>
          </a:bodyPr>
          <a:lstStyle/>
          <a:p>
            <a:pPr algn="ctr"/>
            <a:r>
              <a:rPr sz="3000" b="1">
                <a:solidFill>
                  <a:srgbClr val="0E7C86"/>
                </a:solidFill>
                <a:latin typeface="맑은 고딕"/>
                <a:ea typeface="맑은 고딕"/>
              </a:rPr>
              <a:t>④</a:t>
            </a:r>
          </a:p>
        </p:txBody>
      </p:sp>
      <p:sp>
        <p:nvSpPr>
          <p:cNvPr id="16" name="TextBox 15"/>
          <p:cNvSpPr txBox="1"/>
          <p:nvPr/>
        </p:nvSpPr>
        <p:spPr>
          <a:xfrm>
            <a:off x="9089136" y="2029968"/>
            <a:ext cx="2423160" cy="594360"/>
          </a:xfrm>
          <a:prstGeom prst="rect">
            <a:avLst/>
          </a:prstGeom>
          <a:noFill/>
        </p:spPr>
        <p:txBody>
          <a:bodyPr wrap="square" anchor="t" lIns="45720" rIns="45720">
            <a:spAutoFit/>
          </a:bodyPr>
          <a:lstStyle/>
          <a:p>
            <a:pPr algn="ctr"/>
            <a:r>
              <a:rPr sz="2400" b="1">
                <a:solidFill>
                  <a:srgbClr val="1E293B"/>
                </a:solidFill>
                <a:latin typeface="맑은 고딕"/>
                <a:ea typeface="맑은 고딕"/>
              </a:rPr>
              <a:t>대가·영업 형태</a:t>
            </a:r>
          </a:p>
        </p:txBody>
      </p:sp>
      <p:sp>
        <p:nvSpPr>
          <p:cNvPr id="17" name="Rounded Rectangle 16"/>
          <p:cNvSpPr/>
          <p:nvPr/>
        </p:nvSpPr>
        <p:spPr>
          <a:xfrm>
            <a:off x="548640" y="2944368"/>
            <a:ext cx="2606040" cy="1261872"/>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017520"/>
            <a:ext cx="2423160" cy="548640"/>
          </a:xfrm>
          <a:prstGeom prst="rect">
            <a:avLst/>
          </a:prstGeom>
          <a:noFill/>
        </p:spPr>
        <p:txBody>
          <a:bodyPr wrap="square" anchor="t" lIns="45720" rIns="45720">
            <a:spAutoFit/>
          </a:bodyPr>
          <a:lstStyle/>
          <a:p>
            <a:pPr algn="ctr"/>
            <a:r>
              <a:rPr sz="3000" b="1">
                <a:solidFill>
                  <a:srgbClr val="0E7C86"/>
                </a:solidFill>
                <a:latin typeface="맑은 고딕"/>
                <a:ea typeface="맑은 고딕"/>
              </a:rPr>
              <a:t>⑤</a:t>
            </a:r>
          </a:p>
        </p:txBody>
      </p:sp>
      <p:sp>
        <p:nvSpPr>
          <p:cNvPr id="19" name="TextBox 18"/>
          <p:cNvSpPr txBox="1"/>
          <p:nvPr/>
        </p:nvSpPr>
        <p:spPr>
          <a:xfrm>
            <a:off x="640080" y="3511296"/>
            <a:ext cx="2423160" cy="594360"/>
          </a:xfrm>
          <a:prstGeom prst="rect">
            <a:avLst/>
          </a:prstGeom>
          <a:noFill/>
        </p:spPr>
        <p:txBody>
          <a:bodyPr wrap="square" anchor="t" lIns="45720" rIns="45720">
            <a:spAutoFit/>
          </a:bodyPr>
          <a:lstStyle/>
          <a:p>
            <a:pPr algn="ctr"/>
            <a:r>
              <a:rPr sz="2400" b="1">
                <a:solidFill>
                  <a:srgbClr val="1E293B"/>
                </a:solidFill>
                <a:latin typeface="맑은 고딕"/>
                <a:ea typeface="맑은 고딕"/>
              </a:rPr>
              <a:t>사업자·장소 관계</a:t>
            </a:r>
          </a:p>
        </p:txBody>
      </p:sp>
      <p:sp>
        <p:nvSpPr>
          <p:cNvPr id="20" name="Rounded Rectangle 19"/>
          <p:cNvSpPr/>
          <p:nvPr/>
        </p:nvSpPr>
        <p:spPr>
          <a:xfrm>
            <a:off x="3364992" y="2944368"/>
            <a:ext cx="2606040" cy="1261872"/>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56432" y="3017520"/>
            <a:ext cx="2423160" cy="548640"/>
          </a:xfrm>
          <a:prstGeom prst="rect">
            <a:avLst/>
          </a:prstGeom>
          <a:noFill/>
        </p:spPr>
        <p:txBody>
          <a:bodyPr wrap="square" anchor="t" lIns="45720" rIns="45720">
            <a:spAutoFit/>
          </a:bodyPr>
          <a:lstStyle/>
          <a:p>
            <a:pPr algn="ctr"/>
            <a:r>
              <a:rPr sz="3000" b="1">
                <a:solidFill>
                  <a:srgbClr val="0E7C86"/>
                </a:solidFill>
                <a:latin typeface="맑은 고딕"/>
                <a:ea typeface="맑은 고딕"/>
              </a:rPr>
              <a:t>⑥</a:t>
            </a:r>
          </a:p>
        </p:txBody>
      </p:sp>
      <p:sp>
        <p:nvSpPr>
          <p:cNvPr id="22" name="TextBox 21"/>
          <p:cNvSpPr txBox="1"/>
          <p:nvPr/>
        </p:nvSpPr>
        <p:spPr>
          <a:xfrm>
            <a:off x="3456432" y="3511296"/>
            <a:ext cx="2423160" cy="594360"/>
          </a:xfrm>
          <a:prstGeom prst="rect">
            <a:avLst/>
          </a:prstGeom>
          <a:noFill/>
        </p:spPr>
        <p:txBody>
          <a:bodyPr wrap="square" anchor="t" lIns="45720" rIns="45720">
            <a:spAutoFit/>
          </a:bodyPr>
          <a:lstStyle/>
          <a:p>
            <a:pPr algn="ctr"/>
            <a:r>
              <a:rPr sz="2400" b="1">
                <a:solidFill>
                  <a:srgbClr val="1E293B"/>
                </a:solidFill>
                <a:latin typeface="맑은 고딕"/>
                <a:ea typeface="맑은 고딕"/>
              </a:rPr>
              <a:t>등록 여부·범위</a:t>
            </a:r>
          </a:p>
        </p:txBody>
      </p:sp>
      <p:sp>
        <p:nvSpPr>
          <p:cNvPr id="23" name="Rounded Rectangle 22"/>
          <p:cNvSpPr/>
          <p:nvPr/>
        </p:nvSpPr>
        <p:spPr>
          <a:xfrm>
            <a:off x="6181344" y="2944368"/>
            <a:ext cx="2606040" cy="1261872"/>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72783" y="3017520"/>
            <a:ext cx="2423160" cy="548640"/>
          </a:xfrm>
          <a:prstGeom prst="rect">
            <a:avLst/>
          </a:prstGeom>
          <a:noFill/>
        </p:spPr>
        <p:txBody>
          <a:bodyPr wrap="square" anchor="t" lIns="45720" rIns="45720">
            <a:spAutoFit/>
          </a:bodyPr>
          <a:lstStyle/>
          <a:p>
            <a:pPr algn="ctr"/>
            <a:r>
              <a:rPr sz="3000" b="1">
                <a:solidFill>
                  <a:srgbClr val="0E7C86"/>
                </a:solidFill>
                <a:latin typeface="맑은 고딕"/>
                <a:ea typeface="맑은 고딕"/>
              </a:rPr>
              <a:t>⑦</a:t>
            </a:r>
          </a:p>
        </p:txBody>
      </p:sp>
      <p:sp>
        <p:nvSpPr>
          <p:cNvPr id="25" name="TextBox 24"/>
          <p:cNvSpPr txBox="1"/>
          <p:nvPr/>
        </p:nvSpPr>
        <p:spPr>
          <a:xfrm>
            <a:off x="6272783" y="3511296"/>
            <a:ext cx="2423160" cy="594360"/>
          </a:xfrm>
          <a:prstGeom prst="rect">
            <a:avLst/>
          </a:prstGeom>
          <a:noFill/>
        </p:spPr>
        <p:txBody>
          <a:bodyPr wrap="square" anchor="t" lIns="45720" rIns="45720">
            <a:spAutoFit/>
          </a:bodyPr>
          <a:lstStyle/>
          <a:p>
            <a:pPr algn="ctr"/>
            <a:r>
              <a:rPr sz="2400" b="1">
                <a:solidFill>
                  <a:srgbClr val="1E293B"/>
                </a:solidFill>
                <a:latin typeface="맑은 고딕"/>
                <a:ea typeface="맑은 고딕"/>
              </a:rPr>
              <a:t>사실·진술 기록</a:t>
            </a:r>
          </a:p>
        </p:txBody>
      </p:sp>
      <p:sp>
        <p:nvSpPr>
          <p:cNvPr id="26" name="Rounded Rectangle 25"/>
          <p:cNvSpPr/>
          <p:nvPr/>
        </p:nvSpPr>
        <p:spPr>
          <a:xfrm>
            <a:off x="8997696" y="2944368"/>
            <a:ext cx="2606040" cy="1261872"/>
          </a:xfrm>
          <a:prstGeom prst="roundRect">
            <a:avLst>
              <a:gd name="adj" fmla="val 12000"/>
            </a:avLst>
          </a:prstGeom>
          <a:solidFill>
            <a:srgbClr val="EEF3F8"/>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89136" y="3017520"/>
            <a:ext cx="2423160" cy="548640"/>
          </a:xfrm>
          <a:prstGeom prst="rect">
            <a:avLst/>
          </a:prstGeom>
          <a:noFill/>
        </p:spPr>
        <p:txBody>
          <a:bodyPr wrap="square" anchor="t" lIns="45720" rIns="45720">
            <a:spAutoFit/>
          </a:bodyPr>
          <a:lstStyle/>
          <a:p>
            <a:pPr algn="ctr"/>
            <a:r>
              <a:rPr sz="3000" b="1">
                <a:solidFill>
                  <a:srgbClr val="0E7C86"/>
                </a:solidFill>
                <a:latin typeface="맑은 고딕"/>
                <a:ea typeface="맑은 고딕"/>
              </a:rPr>
              <a:t>⑧</a:t>
            </a:r>
          </a:p>
        </p:txBody>
      </p:sp>
      <p:sp>
        <p:nvSpPr>
          <p:cNvPr id="28" name="TextBox 27"/>
          <p:cNvSpPr txBox="1"/>
          <p:nvPr/>
        </p:nvSpPr>
        <p:spPr>
          <a:xfrm>
            <a:off x="9089136" y="3511296"/>
            <a:ext cx="2423160" cy="594360"/>
          </a:xfrm>
          <a:prstGeom prst="rect">
            <a:avLst/>
          </a:prstGeom>
          <a:noFill/>
        </p:spPr>
        <p:txBody>
          <a:bodyPr wrap="square" anchor="t" lIns="45720" rIns="45720">
            <a:spAutoFit/>
          </a:bodyPr>
          <a:lstStyle/>
          <a:p>
            <a:pPr algn="ctr"/>
            <a:r>
              <a:rPr sz="2400" b="1">
                <a:solidFill>
                  <a:srgbClr val="1E293B"/>
                </a:solidFill>
                <a:latin typeface="맑은 고딕"/>
                <a:ea typeface="맑은 고딕"/>
              </a:rPr>
              <a:t>관할 기관 전달</a:t>
            </a:r>
          </a:p>
        </p:txBody>
      </p:sp>
      <p:sp>
        <p:nvSpPr>
          <p:cNvPr id="29" name="Rounded Rectangle 28"/>
          <p:cNvSpPr/>
          <p:nvPr/>
        </p:nvSpPr>
        <p:spPr>
          <a:xfrm>
            <a:off x="548640" y="4526280"/>
            <a:ext cx="11064240" cy="548640"/>
          </a:xfrm>
          <a:prstGeom prst="roundRect">
            <a:avLst>
              <a:gd name="adj" fmla="val 12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4526280"/>
            <a:ext cx="10881360" cy="548640"/>
          </a:xfrm>
          <a:prstGeom prst="rect">
            <a:avLst/>
          </a:prstGeom>
          <a:noFill/>
        </p:spPr>
        <p:txBody>
          <a:bodyPr wrap="square" anchor="ctr" lIns="45720" rIns="45720">
            <a:spAutoFit/>
          </a:bodyPr>
          <a:lstStyle/>
          <a:p>
            <a:pPr algn="ctr"/>
            <a:r>
              <a:rPr sz="2400" b="1">
                <a:solidFill>
                  <a:srgbClr val="1E293B"/>
                </a:solidFill>
                <a:latin typeface="맑은 고딕"/>
                <a:ea typeface="맑은 고딕"/>
              </a:rPr>
              <a:t>법령 적용과 최종 판단은 관할 행정기관이 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57200" y="219456"/>
            <a:ext cx="713232" cy="713232"/>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9456"/>
            <a:ext cx="713232" cy="713232"/>
          </a:xfrm>
          <a:prstGeom prst="rect">
            <a:avLst/>
          </a:prstGeom>
          <a:noFill/>
        </p:spPr>
        <p:txBody>
          <a:bodyPr wrap="square" anchor="ctr" lIns="45720" rIns="45720">
            <a:spAutoFit/>
          </a:bodyPr>
          <a:lstStyle/>
          <a:p>
            <a:pPr algn="ctr"/>
            <a:r>
              <a:rPr sz="2800" b="1">
                <a:solidFill>
                  <a:srgbClr val="FFFFFF"/>
                </a:solidFill>
                <a:latin typeface="맑은 고딕"/>
                <a:ea typeface="맑은 고딕"/>
              </a:rPr>
              <a:t>①</a:t>
            </a:r>
          </a:p>
        </p:txBody>
      </p:sp>
      <p:sp>
        <p:nvSpPr>
          <p:cNvPr id="5" name="TextBox 4"/>
          <p:cNvSpPr txBox="1"/>
          <p:nvPr/>
        </p:nvSpPr>
        <p:spPr>
          <a:xfrm>
            <a:off x="1371600" y="182880"/>
            <a:ext cx="8778240" cy="786384"/>
          </a:xfrm>
          <a:prstGeom prst="rect">
            <a:avLst/>
          </a:prstGeom>
          <a:noFill/>
        </p:spPr>
        <p:txBody>
          <a:bodyPr wrap="square" anchor="ctr" lIns="45720" rIns="45720">
            <a:spAutoFit/>
          </a:bodyPr>
          <a:lstStyle/>
          <a:p>
            <a:pPr algn="l"/>
            <a:r>
              <a:rPr sz="3600" b="1">
                <a:solidFill>
                  <a:srgbClr val="FFFFFF"/>
                </a:solidFill>
                <a:latin typeface="맑은 고딕"/>
                <a:ea typeface="맑은 고딕"/>
              </a:rPr>
              <a:t>사례와 장비 확인</a:t>
            </a:r>
          </a:p>
        </p:txBody>
      </p:sp>
      <p:sp>
        <p:nvSpPr>
          <p:cNvPr id="6" name="TextBox 5"/>
          <p:cNvSpPr txBox="1"/>
          <p:nvPr/>
        </p:nvSpPr>
        <p:spPr>
          <a:xfrm>
            <a:off x="9418320" y="320040"/>
            <a:ext cx="2468880" cy="502920"/>
          </a:xfrm>
          <a:prstGeom prst="rect">
            <a:avLst/>
          </a:prstGeom>
          <a:noFill/>
        </p:spPr>
        <p:txBody>
          <a:bodyPr wrap="square" anchor="ctr" lIns="45720" rIns="45720">
            <a:spAutoFit/>
          </a:bodyPr>
          <a:lstStyle/>
          <a:p>
            <a:pPr algn="r"/>
            <a:r>
              <a:rPr sz="1400" b="0">
                <a:solidFill>
                  <a:srgbClr val="C8D6E5"/>
                </a:solidFill>
                <a:latin typeface="맑은 고딕"/>
                <a:ea typeface="맑은 고딕"/>
              </a:rPr>
              <a:t>현장점검 실무교육  03 / 13</a:t>
            </a:r>
          </a:p>
        </p:txBody>
      </p:sp>
      <p:sp>
        <p:nvSpPr>
          <p:cNvPr id="7" name="Rounded Rectangle 6"/>
          <p:cNvSpPr/>
          <p:nvPr/>
        </p:nvSpPr>
        <p:spPr>
          <a:xfrm>
            <a:off x="548640" y="1463040"/>
            <a:ext cx="4754880" cy="1005840"/>
          </a:xfrm>
          <a:prstGeom prst="roundRect">
            <a:avLst>
              <a:gd name="adj" fmla="val 12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63040"/>
            <a:ext cx="4572000" cy="1005840"/>
          </a:xfrm>
          <a:prstGeom prst="rect">
            <a:avLst/>
          </a:prstGeom>
          <a:noFill/>
        </p:spPr>
        <p:txBody>
          <a:bodyPr wrap="square" anchor="ctr" lIns="45720" rIns="45720">
            <a:spAutoFit/>
          </a:bodyPr>
          <a:lstStyle/>
          <a:p>
            <a:pPr algn="ctr"/>
            <a:r>
              <a:rPr sz="3200" b="1">
                <a:solidFill>
                  <a:srgbClr val="1E293B"/>
                </a:solidFill>
                <a:latin typeface="맑은 고딕"/>
                <a:ea typeface="맑은 고딕"/>
              </a:rPr>
              <a:t>표지 없음 ≠ 무등록</a:t>
            </a:r>
          </a:p>
        </p:txBody>
      </p:sp>
      <p:sp>
        <p:nvSpPr>
          <p:cNvPr id="9" name="TextBox 8"/>
          <p:cNvSpPr txBox="1"/>
          <p:nvPr/>
        </p:nvSpPr>
        <p:spPr>
          <a:xfrm>
            <a:off x="548640" y="2606040"/>
            <a:ext cx="4754880" cy="1463040"/>
          </a:xfrm>
          <a:prstGeom prst="rect">
            <a:avLst/>
          </a:prstGeom>
          <a:noFill/>
        </p:spPr>
        <p:txBody>
          <a:bodyPr wrap="square" anchor="t" lIns="45720" rIns="45720">
            <a:spAutoFit/>
          </a:bodyPr>
          <a:lstStyle/>
          <a:p>
            <a:pPr algn="l"/>
            <a:r>
              <a:rPr sz="2400" b="1">
                <a:solidFill>
                  <a:srgbClr val="1E293B"/>
                </a:solidFill>
                <a:latin typeface="맑은 고딕"/>
                <a:ea typeface="맑은 고딕"/>
              </a:rPr>
              <a:t>공구점 안쪽에서 지게차 수리</a:t>
            </a:r>
          </a:p>
          <a:p>
            <a:pPr algn="l"/>
            <a:r>
              <a:rPr sz="2400" b="1">
                <a:solidFill>
                  <a:srgbClr val="1E293B"/>
                </a:solidFill>
                <a:latin typeface="맑은 고딕"/>
                <a:ea typeface="맑은 고딕"/>
              </a:rPr>
              <a:t>→ 먼저, 건설기계인가?</a:t>
            </a:r>
          </a:p>
        </p:txBody>
      </p:sp>
      <p:sp>
        <p:nvSpPr>
          <p:cNvPr id="10" name="Rounded Rectangle 9"/>
          <p:cNvSpPr/>
          <p:nvPr/>
        </p:nvSpPr>
        <p:spPr>
          <a:xfrm>
            <a:off x="5760720" y="1463040"/>
            <a:ext cx="5852160" cy="566928"/>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852159" y="1463040"/>
            <a:ext cx="5669280" cy="566928"/>
          </a:xfrm>
          <a:prstGeom prst="rect">
            <a:avLst/>
          </a:prstGeom>
          <a:noFill/>
        </p:spPr>
        <p:txBody>
          <a:bodyPr wrap="square" anchor="ctr" lIns="45720" rIns="45720">
            <a:spAutoFit/>
          </a:bodyPr>
          <a:lstStyle/>
          <a:p>
            <a:pPr algn="l"/>
            <a:r>
              <a:rPr sz="2400" b="1">
                <a:solidFill>
                  <a:srgbClr val="1E293B"/>
                </a:solidFill>
                <a:latin typeface="맑은 고딕"/>
                <a:ea typeface="맑은 고딕"/>
              </a:rPr>
              <a:t>☐  등록번호판</a:t>
            </a:r>
          </a:p>
        </p:txBody>
      </p:sp>
      <p:sp>
        <p:nvSpPr>
          <p:cNvPr id="12" name="Rounded Rectangle 11"/>
          <p:cNvSpPr/>
          <p:nvPr/>
        </p:nvSpPr>
        <p:spPr>
          <a:xfrm>
            <a:off x="5760720" y="2121408"/>
            <a:ext cx="5852160" cy="566928"/>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52159" y="2121408"/>
            <a:ext cx="5669280" cy="566928"/>
          </a:xfrm>
          <a:prstGeom prst="rect">
            <a:avLst/>
          </a:prstGeom>
          <a:noFill/>
        </p:spPr>
        <p:txBody>
          <a:bodyPr wrap="square" anchor="ctr" lIns="45720" rIns="45720">
            <a:spAutoFit/>
          </a:bodyPr>
          <a:lstStyle/>
          <a:p>
            <a:pPr algn="l"/>
            <a:r>
              <a:rPr sz="2400" b="1">
                <a:solidFill>
                  <a:srgbClr val="1E293B"/>
                </a:solidFill>
                <a:latin typeface="맑은 고딕"/>
                <a:ea typeface="맑은 고딕"/>
              </a:rPr>
              <a:t>☐  동력: 전동 / 엔진</a:t>
            </a:r>
          </a:p>
        </p:txBody>
      </p:sp>
      <p:sp>
        <p:nvSpPr>
          <p:cNvPr id="14" name="Rounded Rectangle 13"/>
          <p:cNvSpPr/>
          <p:nvPr/>
        </p:nvSpPr>
        <p:spPr>
          <a:xfrm>
            <a:off x="5760720" y="2779776"/>
            <a:ext cx="5852160" cy="566928"/>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52159" y="2779776"/>
            <a:ext cx="5669280" cy="566928"/>
          </a:xfrm>
          <a:prstGeom prst="rect">
            <a:avLst/>
          </a:prstGeom>
          <a:noFill/>
        </p:spPr>
        <p:txBody>
          <a:bodyPr wrap="square" anchor="ctr" lIns="45720" rIns="45720">
            <a:spAutoFit/>
          </a:bodyPr>
          <a:lstStyle/>
          <a:p>
            <a:pPr algn="l"/>
            <a:r>
              <a:rPr sz="2400" b="1">
                <a:solidFill>
                  <a:srgbClr val="1E293B"/>
                </a:solidFill>
                <a:latin typeface="맑은 고딕"/>
                <a:ea typeface="맑은 고딕"/>
              </a:rPr>
              <a:t>☐  타이어: 솔리드 / 공기입</a:t>
            </a:r>
          </a:p>
        </p:txBody>
      </p:sp>
      <p:sp>
        <p:nvSpPr>
          <p:cNvPr id="16" name="Rounded Rectangle 15"/>
          <p:cNvSpPr/>
          <p:nvPr/>
        </p:nvSpPr>
        <p:spPr>
          <a:xfrm>
            <a:off x="5760720" y="3438144"/>
            <a:ext cx="5852160" cy="566928"/>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52159" y="3438144"/>
            <a:ext cx="5669280" cy="566928"/>
          </a:xfrm>
          <a:prstGeom prst="rect">
            <a:avLst/>
          </a:prstGeom>
          <a:noFill/>
        </p:spPr>
        <p:txBody>
          <a:bodyPr wrap="square" anchor="ctr" lIns="45720" rIns="45720">
            <a:spAutoFit/>
          </a:bodyPr>
          <a:lstStyle/>
          <a:p>
            <a:pPr algn="l"/>
            <a:r>
              <a:rPr sz="2400" b="1">
                <a:solidFill>
                  <a:srgbClr val="1E293B"/>
                </a:solidFill>
                <a:latin typeface="맑은 고딕"/>
                <a:ea typeface="맑은 고딕"/>
              </a:rPr>
              <a:t>☐  도로 운행 여부</a:t>
            </a:r>
          </a:p>
        </p:txBody>
      </p:sp>
      <p:sp>
        <p:nvSpPr>
          <p:cNvPr id="18" name="Rounded Rectangle 17"/>
          <p:cNvSpPr/>
          <p:nvPr/>
        </p:nvSpPr>
        <p:spPr>
          <a:xfrm>
            <a:off x="548640" y="4206240"/>
            <a:ext cx="11064240" cy="777240"/>
          </a:xfrm>
          <a:prstGeom prst="roundRect">
            <a:avLst>
              <a:gd name="adj" fmla="val 12000"/>
            </a:avLst>
          </a:prstGeom>
          <a:solidFill>
            <a:srgbClr val="EEF3F8"/>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4206240"/>
            <a:ext cx="10881360" cy="777240"/>
          </a:xfrm>
          <a:prstGeom prst="rect">
            <a:avLst/>
          </a:prstGeom>
          <a:noFill/>
        </p:spPr>
        <p:txBody>
          <a:bodyPr wrap="square" anchor="ctr" lIns="45720" rIns="45720">
            <a:spAutoFit/>
          </a:bodyPr>
          <a:lstStyle/>
          <a:p>
            <a:pPr algn="ctr"/>
            <a:r>
              <a:rPr sz="2200" b="1">
                <a:solidFill>
                  <a:srgbClr val="1F3A5F"/>
                </a:solidFill>
                <a:latin typeface="맑은 고딕"/>
                <a:ea typeface="맑은 고딕"/>
              </a:rPr>
              <a:t>제외: 전동식 + 솔리드타이어 + 도로가 아닌 곳에서만 운행하는 지게차</a:t>
            </a:r>
          </a:p>
        </p:txBody>
      </p:sp>
      <p:sp>
        <p:nvSpPr>
          <p:cNvPr id="20" name="TextBox 19"/>
          <p:cNvSpPr txBox="1"/>
          <p:nvPr/>
        </p:nvSpPr>
        <p:spPr>
          <a:xfrm>
            <a:off x="548640" y="5138928"/>
            <a:ext cx="11064240" cy="384048"/>
          </a:xfrm>
          <a:prstGeom prst="rect">
            <a:avLst/>
          </a:prstGeom>
          <a:noFill/>
        </p:spPr>
        <p:txBody>
          <a:bodyPr wrap="square" anchor="t" lIns="45720" rIns="45720">
            <a:spAutoFit/>
          </a:bodyPr>
          <a:lstStyle/>
          <a:p>
            <a:pPr algn="l"/>
            <a:r>
              <a:rPr sz="1500" b="0">
                <a:solidFill>
                  <a:srgbClr val="5F6B7A"/>
                </a:solidFill>
                <a:latin typeface="맑은 고딕"/>
                <a:ea typeface="맑은 고딕"/>
              </a:rPr>
              <a:t>「건설기계관리법 시행령」 별표 1 제4호 · 「시행규칙」 제67조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57200" y="219456"/>
            <a:ext cx="713232" cy="713232"/>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9456"/>
            <a:ext cx="713232" cy="713232"/>
          </a:xfrm>
          <a:prstGeom prst="rect">
            <a:avLst/>
          </a:prstGeom>
          <a:noFill/>
        </p:spPr>
        <p:txBody>
          <a:bodyPr wrap="square" anchor="ctr" lIns="45720" rIns="45720">
            <a:spAutoFit/>
          </a:bodyPr>
          <a:lstStyle/>
          <a:p>
            <a:pPr algn="ctr"/>
            <a:r>
              <a:rPr sz="2800" b="1">
                <a:solidFill>
                  <a:srgbClr val="FFFFFF"/>
                </a:solidFill>
                <a:latin typeface="맑은 고딕"/>
                <a:ea typeface="맑은 고딕"/>
              </a:rPr>
              <a:t>②</a:t>
            </a:r>
          </a:p>
        </p:txBody>
      </p:sp>
      <p:sp>
        <p:nvSpPr>
          <p:cNvPr id="5" name="TextBox 4"/>
          <p:cNvSpPr txBox="1"/>
          <p:nvPr/>
        </p:nvSpPr>
        <p:spPr>
          <a:xfrm>
            <a:off x="1371600" y="182880"/>
            <a:ext cx="8778240" cy="786384"/>
          </a:xfrm>
          <a:prstGeom prst="rect">
            <a:avLst/>
          </a:prstGeom>
          <a:noFill/>
        </p:spPr>
        <p:txBody>
          <a:bodyPr wrap="square" anchor="ctr" lIns="45720" rIns="45720">
            <a:spAutoFit/>
          </a:bodyPr>
          <a:lstStyle/>
          <a:p>
            <a:pPr algn="l"/>
            <a:r>
              <a:rPr sz="3600" b="1">
                <a:solidFill>
                  <a:srgbClr val="FFFFFF"/>
                </a:solidFill>
                <a:latin typeface="맑은 고딕"/>
                <a:ea typeface="맑은 고딕"/>
              </a:rPr>
              <a:t>작업 주체</a:t>
            </a:r>
          </a:p>
        </p:txBody>
      </p:sp>
      <p:sp>
        <p:nvSpPr>
          <p:cNvPr id="6" name="TextBox 5"/>
          <p:cNvSpPr txBox="1"/>
          <p:nvPr/>
        </p:nvSpPr>
        <p:spPr>
          <a:xfrm>
            <a:off x="9418320" y="320040"/>
            <a:ext cx="2468880" cy="502920"/>
          </a:xfrm>
          <a:prstGeom prst="rect">
            <a:avLst/>
          </a:prstGeom>
          <a:noFill/>
        </p:spPr>
        <p:txBody>
          <a:bodyPr wrap="square" anchor="ctr" lIns="45720" rIns="45720">
            <a:spAutoFit/>
          </a:bodyPr>
          <a:lstStyle/>
          <a:p>
            <a:pPr algn="r"/>
            <a:r>
              <a:rPr sz="1400" b="0">
                <a:solidFill>
                  <a:srgbClr val="C8D6E5"/>
                </a:solidFill>
                <a:latin typeface="맑은 고딕"/>
                <a:ea typeface="맑은 고딕"/>
              </a:rPr>
              <a:t>현장점검 실무교육  04 / 13</a:t>
            </a:r>
          </a:p>
        </p:txBody>
      </p:sp>
      <p:sp>
        <p:nvSpPr>
          <p:cNvPr id="7" name="Rounded Rectangle 6"/>
          <p:cNvSpPr/>
          <p:nvPr/>
        </p:nvSpPr>
        <p:spPr>
          <a:xfrm>
            <a:off x="548640" y="1463040"/>
            <a:ext cx="6583680" cy="749808"/>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63040"/>
            <a:ext cx="6400800" cy="749808"/>
          </a:xfrm>
          <a:prstGeom prst="rect">
            <a:avLst/>
          </a:prstGeom>
          <a:noFill/>
        </p:spPr>
        <p:txBody>
          <a:bodyPr wrap="square" anchor="ctr" lIns="45720" rIns="45720">
            <a:spAutoFit/>
          </a:bodyPr>
          <a:lstStyle/>
          <a:p>
            <a:pPr algn="l"/>
            <a:r>
              <a:rPr sz="2600" b="1">
                <a:solidFill>
                  <a:srgbClr val="1E293B"/>
                </a:solidFill>
                <a:latin typeface="맑은 고딕"/>
                <a:ea typeface="맑은 고딕"/>
              </a:rPr>
              <a:t>누가 수리를 의뢰받았나?</a:t>
            </a:r>
          </a:p>
        </p:txBody>
      </p:sp>
      <p:sp>
        <p:nvSpPr>
          <p:cNvPr id="9" name="Rounded Rectangle 8"/>
          <p:cNvSpPr/>
          <p:nvPr/>
        </p:nvSpPr>
        <p:spPr>
          <a:xfrm>
            <a:off x="548640" y="2377440"/>
            <a:ext cx="6583680" cy="749808"/>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377440"/>
            <a:ext cx="6400800" cy="749808"/>
          </a:xfrm>
          <a:prstGeom prst="rect">
            <a:avLst/>
          </a:prstGeom>
          <a:noFill/>
        </p:spPr>
        <p:txBody>
          <a:bodyPr wrap="square" anchor="ctr" lIns="45720" rIns="45720">
            <a:spAutoFit/>
          </a:bodyPr>
          <a:lstStyle/>
          <a:p>
            <a:pPr algn="l"/>
            <a:r>
              <a:rPr sz="2600" b="1">
                <a:solidFill>
                  <a:srgbClr val="1E293B"/>
                </a:solidFill>
                <a:latin typeface="맑은 고딕"/>
                <a:ea typeface="맑은 고딕"/>
              </a:rPr>
              <a:t>누가 실제로 작업했나?</a:t>
            </a:r>
          </a:p>
        </p:txBody>
      </p:sp>
      <p:sp>
        <p:nvSpPr>
          <p:cNvPr id="11" name="Rounded Rectangle 10"/>
          <p:cNvSpPr/>
          <p:nvPr/>
        </p:nvSpPr>
        <p:spPr>
          <a:xfrm>
            <a:off x="548640" y="3291840"/>
            <a:ext cx="6583680" cy="749808"/>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291840"/>
            <a:ext cx="6400800" cy="749808"/>
          </a:xfrm>
          <a:prstGeom prst="rect">
            <a:avLst/>
          </a:prstGeom>
          <a:noFill/>
        </p:spPr>
        <p:txBody>
          <a:bodyPr wrap="square" anchor="ctr" lIns="45720" rIns="45720">
            <a:spAutoFit/>
          </a:bodyPr>
          <a:lstStyle/>
          <a:p>
            <a:pPr algn="l"/>
            <a:r>
              <a:rPr sz="2600" b="1">
                <a:solidFill>
                  <a:srgbClr val="1E293B"/>
                </a:solidFill>
                <a:latin typeface="맑은 고딕"/>
                <a:ea typeface="맑은 고딕"/>
              </a:rPr>
              <a:t>누구의 장비인가?</a:t>
            </a:r>
          </a:p>
        </p:txBody>
      </p:sp>
      <p:sp>
        <p:nvSpPr>
          <p:cNvPr id="13" name="Rounded Rectangle 12"/>
          <p:cNvSpPr/>
          <p:nvPr/>
        </p:nvSpPr>
        <p:spPr>
          <a:xfrm>
            <a:off x="7498079" y="1463040"/>
            <a:ext cx="4114800" cy="2578608"/>
          </a:xfrm>
          <a:prstGeom prst="roundRect">
            <a:avLst>
              <a:gd name="adj" fmla="val 12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589519" y="1463040"/>
            <a:ext cx="3931920" cy="2578608"/>
          </a:xfrm>
          <a:prstGeom prst="rect">
            <a:avLst/>
          </a:prstGeom>
          <a:noFill/>
        </p:spPr>
        <p:txBody>
          <a:bodyPr wrap="square" anchor="ctr" lIns="45720" rIns="45720">
            <a:spAutoFit/>
          </a:bodyPr>
          <a:lstStyle/>
          <a:p>
            <a:pPr algn="ctr"/>
            <a:r>
              <a:rPr sz="2400" b="1">
                <a:solidFill>
                  <a:srgbClr val="1E293B"/>
                </a:solidFill>
                <a:latin typeface="맑은 고딕"/>
                <a:ea typeface="맑은 고딕"/>
              </a:rPr>
              <a:t>남의 장비를</a:t>
            </a:r>
          </a:p>
          <a:p>
            <a:pPr algn="ctr"/>
            <a:r>
              <a:rPr sz="2400" b="1">
                <a:solidFill>
                  <a:srgbClr val="1E293B"/>
                </a:solidFill>
                <a:latin typeface="맑은 고딕"/>
                <a:ea typeface="맑은 고딕"/>
              </a:rPr>
              <a:t>맡아 고쳤나?</a:t>
            </a:r>
          </a:p>
          <a:p>
            <a:pPr algn="ctr"/>
            <a:r>
              <a:rPr sz="2400" b="1">
                <a:solidFill>
                  <a:srgbClr val="1E293B"/>
                </a:solidFill>
                <a:latin typeface="맑은 고딕"/>
                <a:ea typeface="맑은 고딕"/>
              </a:rPr>
              <a:t/>
            </a:r>
          </a:p>
          <a:p>
            <a:pPr algn="ctr"/>
            <a:r>
              <a:rPr sz="2400" b="1">
                <a:solidFill>
                  <a:srgbClr val="1E293B"/>
                </a:solidFill>
                <a:latin typeface="맑은 고딕"/>
                <a:ea typeface="맑은 고딕"/>
              </a:rPr>
              <a:t>자기 장비를</a:t>
            </a:r>
          </a:p>
          <a:p>
            <a:pPr algn="ctr"/>
            <a:r>
              <a:rPr sz="2400" b="1">
                <a:solidFill>
                  <a:srgbClr val="1E293B"/>
                </a:solidFill>
                <a:latin typeface="맑은 고딕"/>
                <a:ea typeface="맑은 고딕"/>
              </a:rPr>
              <a:t>고쳤나?</a:t>
            </a:r>
          </a:p>
        </p:txBody>
      </p:sp>
      <p:sp>
        <p:nvSpPr>
          <p:cNvPr id="15" name="Rounded Rectangle 14"/>
          <p:cNvSpPr/>
          <p:nvPr/>
        </p:nvSpPr>
        <p:spPr>
          <a:xfrm>
            <a:off x="548640" y="4251960"/>
            <a:ext cx="11064240" cy="731520"/>
          </a:xfrm>
          <a:prstGeom prst="roundRect">
            <a:avLst>
              <a:gd name="adj" fmla="val 12000"/>
            </a:avLst>
          </a:prstGeom>
          <a:solidFill>
            <a:srgbClr val="EEF3F8"/>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251960"/>
            <a:ext cx="10881360" cy="731520"/>
          </a:xfrm>
          <a:prstGeom prst="rect">
            <a:avLst/>
          </a:prstGeom>
          <a:noFill/>
        </p:spPr>
        <p:txBody>
          <a:bodyPr wrap="square" anchor="ctr" lIns="45720" rIns="45720">
            <a:spAutoFit/>
          </a:bodyPr>
          <a:lstStyle/>
          <a:p>
            <a:pPr algn="ctr"/>
            <a:r>
              <a:rPr sz="2200" b="1">
                <a:solidFill>
                  <a:srgbClr val="1F3A5F"/>
                </a:solidFill>
                <a:latin typeface="맑은 고딕"/>
                <a:ea typeface="맑은 고딕"/>
              </a:rPr>
              <a:t>자기 장비라도 직접 정비할 수 있는 범위는 따로 정해져 있습니다</a:t>
            </a:r>
          </a:p>
        </p:txBody>
      </p:sp>
      <p:sp>
        <p:nvSpPr>
          <p:cNvPr id="17" name="TextBox 16"/>
          <p:cNvSpPr txBox="1"/>
          <p:nvPr/>
        </p:nvSpPr>
        <p:spPr>
          <a:xfrm>
            <a:off x="548640" y="5138928"/>
            <a:ext cx="11064240" cy="384048"/>
          </a:xfrm>
          <a:prstGeom prst="rect">
            <a:avLst/>
          </a:prstGeom>
          <a:noFill/>
        </p:spPr>
        <p:txBody>
          <a:bodyPr wrap="square" anchor="t" lIns="45720" rIns="45720">
            <a:spAutoFit/>
          </a:bodyPr>
          <a:lstStyle/>
          <a:p>
            <a:pPr algn="l"/>
            <a:r>
              <a:rPr sz="1500" b="0">
                <a:solidFill>
                  <a:srgbClr val="5F6B7A"/>
                </a:solidFill>
                <a:latin typeface="맑은 고딕"/>
                <a:ea typeface="맑은 고딕"/>
              </a:rPr>
              <a:t>「건설기계관리법」 제2조제1항제5호, 제16조의2 · 「시행규칙」 제41조, 별표 10의2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57200" y="219456"/>
            <a:ext cx="713232" cy="713232"/>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9456"/>
            <a:ext cx="713232" cy="713232"/>
          </a:xfrm>
          <a:prstGeom prst="rect">
            <a:avLst/>
          </a:prstGeom>
          <a:noFill/>
        </p:spPr>
        <p:txBody>
          <a:bodyPr wrap="square" anchor="ctr" lIns="45720" rIns="45720">
            <a:spAutoFit/>
          </a:bodyPr>
          <a:lstStyle/>
          <a:p>
            <a:pPr algn="ctr"/>
            <a:r>
              <a:rPr sz="2800" b="1">
                <a:solidFill>
                  <a:srgbClr val="FFFFFF"/>
                </a:solidFill>
                <a:latin typeface="맑은 고딕"/>
                <a:ea typeface="맑은 고딕"/>
              </a:rPr>
              <a:t>③</a:t>
            </a:r>
          </a:p>
        </p:txBody>
      </p:sp>
      <p:sp>
        <p:nvSpPr>
          <p:cNvPr id="5" name="TextBox 4"/>
          <p:cNvSpPr txBox="1"/>
          <p:nvPr/>
        </p:nvSpPr>
        <p:spPr>
          <a:xfrm>
            <a:off x="1371600" y="182880"/>
            <a:ext cx="8778240" cy="786384"/>
          </a:xfrm>
          <a:prstGeom prst="rect">
            <a:avLst/>
          </a:prstGeom>
          <a:noFill/>
        </p:spPr>
        <p:txBody>
          <a:bodyPr wrap="square" anchor="ctr" lIns="45720" rIns="45720">
            <a:spAutoFit/>
          </a:bodyPr>
          <a:lstStyle/>
          <a:p>
            <a:pPr algn="l"/>
            <a:r>
              <a:rPr sz="3600" b="1">
                <a:solidFill>
                  <a:srgbClr val="FFFFFF"/>
                </a:solidFill>
                <a:latin typeface="맑은 고딕"/>
                <a:ea typeface="맑은 고딕"/>
              </a:rPr>
              <a:t>작업 내용</a:t>
            </a:r>
          </a:p>
        </p:txBody>
      </p:sp>
      <p:sp>
        <p:nvSpPr>
          <p:cNvPr id="6" name="TextBox 5"/>
          <p:cNvSpPr txBox="1"/>
          <p:nvPr/>
        </p:nvSpPr>
        <p:spPr>
          <a:xfrm>
            <a:off x="9418320" y="320040"/>
            <a:ext cx="2468880" cy="502920"/>
          </a:xfrm>
          <a:prstGeom prst="rect">
            <a:avLst/>
          </a:prstGeom>
          <a:noFill/>
        </p:spPr>
        <p:txBody>
          <a:bodyPr wrap="square" anchor="ctr" lIns="45720" rIns="45720">
            <a:spAutoFit/>
          </a:bodyPr>
          <a:lstStyle/>
          <a:p>
            <a:pPr algn="r"/>
            <a:r>
              <a:rPr sz="1400" b="0">
                <a:solidFill>
                  <a:srgbClr val="C8D6E5"/>
                </a:solidFill>
                <a:latin typeface="맑은 고딕"/>
                <a:ea typeface="맑은 고딕"/>
              </a:rPr>
              <a:t>현장점검 실무교육  05 / 13</a:t>
            </a:r>
          </a:p>
        </p:txBody>
      </p:sp>
      <p:sp>
        <p:nvSpPr>
          <p:cNvPr id="7" name="TextBox 6"/>
          <p:cNvSpPr txBox="1"/>
          <p:nvPr/>
        </p:nvSpPr>
        <p:spPr>
          <a:xfrm>
            <a:off x="548640" y="1325880"/>
            <a:ext cx="7315200" cy="548640"/>
          </a:xfrm>
          <a:prstGeom prst="rect">
            <a:avLst/>
          </a:prstGeom>
          <a:noFill/>
        </p:spPr>
        <p:txBody>
          <a:bodyPr wrap="square" anchor="t" lIns="45720" rIns="45720">
            <a:spAutoFit/>
          </a:bodyPr>
          <a:lstStyle/>
          <a:p>
            <a:pPr algn="l"/>
            <a:r>
              <a:rPr sz="2400" b="1">
                <a:solidFill>
                  <a:srgbClr val="1F3A5F"/>
                </a:solidFill>
                <a:latin typeface="맑은 고딕"/>
                <a:ea typeface="맑은 고딕"/>
              </a:rPr>
              <a:t>정비업 범위에서 제외되는 가벼운 작업 5가지</a:t>
            </a:r>
          </a:p>
        </p:txBody>
      </p:sp>
      <p:sp>
        <p:nvSpPr>
          <p:cNvPr id="8" name="Rounded Rectangle 7"/>
          <p:cNvSpPr/>
          <p:nvPr/>
        </p:nvSpPr>
        <p:spPr>
          <a:xfrm>
            <a:off x="548640" y="1920240"/>
            <a:ext cx="6675120" cy="530352"/>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920240"/>
            <a:ext cx="6492240" cy="530352"/>
          </a:xfrm>
          <a:prstGeom prst="rect">
            <a:avLst/>
          </a:prstGeom>
          <a:noFill/>
        </p:spPr>
        <p:txBody>
          <a:bodyPr wrap="square" anchor="ctr" lIns="45720" rIns="45720">
            <a:spAutoFit/>
          </a:bodyPr>
          <a:lstStyle/>
          <a:p>
            <a:pPr algn="l"/>
            <a:r>
              <a:rPr sz="2200" b="1">
                <a:solidFill>
                  <a:srgbClr val="1E293B"/>
                </a:solidFill>
                <a:latin typeface="맑은 고딕"/>
                <a:ea typeface="맑은 고딕"/>
              </a:rPr>
              <a:t>1. 오일 보충</a:t>
            </a:r>
          </a:p>
        </p:txBody>
      </p:sp>
      <p:sp>
        <p:nvSpPr>
          <p:cNvPr id="10" name="Rounded Rectangle 9"/>
          <p:cNvSpPr/>
          <p:nvPr/>
        </p:nvSpPr>
        <p:spPr>
          <a:xfrm>
            <a:off x="548640" y="2542032"/>
            <a:ext cx="6675120" cy="530352"/>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542032"/>
            <a:ext cx="6492240" cy="530352"/>
          </a:xfrm>
          <a:prstGeom prst="rect">
            <a:avLst/>
          </a:prstGeom>
          <a:noFill/>
        </p:spPr>
        <p:txBody>
          <a:bodyPr wrap="square" anchor="ctr" lIns="45720" rIns="45720">
            <a:spAutoFit/>
          </a:bodyPr>
          <a:lstStyle/>
          <a:p>
            <a:pPr algn="l"/>
            <a:r>
              <a:rPr sz="2200" b="1">
                <a:solidFill>
                  <a:srgbClr val="1E293B"/>
                </a:solidFill>
                <a:latin typeface="맑은 고딕"/>
                <a:ea typeface="맑은 고딕"/>
              </a:rPr>
              <a:t>2. 에어클리너·필터류 교환</a:t>
            </a:r>
          </a:p>
        </p:txBody>
      </p:sp>
      <p:sp>
        <p:nvSpPr>
          <p:cNvPr id="12" name="Rounded Rectangle 11"/>
          <p:cNvSpPr/>
          <p:nvPr/>
        </p:nvSpPr>
        <p:spPr>
          <a:xfrm>
            <a:off x="548640" y="3163824"/>
            <a:ext cx="6675120" cy="530352"/>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163824"/>
            <a:ext cx="6492240" cy="530352"/>
          </a:xfrm>
          <a:prstGeom prst="rect">
            <a:avLst/>
          </a:prstGeom>
          <a:noFill/>
        </p:spPr>
        <p:txBody>
          <a:bodyPr wrap="square" anchor="ctr" lIns="45720" rIns="45720">
            <a:spAutoFit/>
          </a:bodyPr>
          <a:lstStyle/>
          <a:p>
            <a:pPr algn="l"/>
            <a:r>
              <a:rPr sz="2200" b="1">
                <a:solidFill>
                  <a:srgbClr val="1E293B"/>
                </a:solidFill>
                <a:latin typeface="맑은 고딕"/>
                <a:ea typeface="맑은 고딕"/>
              </a:rPr>
              <a:t>3. 배터리·전구 교환</a:t>
            </a:r>
          </a:p>
        </p:txBody>
      </p:sp>
      <p:sp>
        <p:nvSpPr>
          <p:cNvPr id="14" name="Rounded Rectangle 13"/>
          <p:cNvSpPr/>
          <p:nvPr/>
        </p:nvSpPr>
        <p:spPr>
          <a:xfrm>
            <a:off x="548640" y="3785616"/>
            <a:ext cx="6675120" cy="530352"/>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785616"/>
            <a:ext cx="6492240" cy="530352"/>
          </a:xfrm>
          <a:prstGeom prst="rect">
            <a:avLst/>
          </a:prstGeom>
          <a:noFill/>
        </p:spPr>
        <p:txBody>
          <a:bodyPr wrap="square" anchor="ctr" lIns="45720" rIns="45720">
            <a:spAutoFit/>
          </a:bodyPr>
          <a:lstStyle/>
          <a:p>
            <a:pPr algn="l"/>
            <a:r>
              <a:rPr sz="2200" b="1">
                <a:solidFill>
                  <a:srgbClr val="1E293B"/>
                </a:solidFill>
                <a:latin typeface="맑은 고딕"/>
                <a:ea typeface="맑은 고딕"/>
              </a:rPr>
              <a:t>4. 타이어 점검·정비, 트랙 장력 조정</a:t>
            </a:r>
          </a:p>
        </p:txBody>
      </p:sp>
      <p:sp>
        <p:nvSpPr>
          <p:cNvPr id="16" name="Rounded Rectangle 15"/>
          <p:cNvSpPr/>
          <p:nvPr/>
        </p:nvSpPr>
        <p:spPr>
          <a:xfrm>
            <a:off x="548640" y="4407408"/>
            <a:ext cx="6675120" cy="530352"/>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4407408"/>
            <a:ext cx="6492240" cy="530352"/>
          </a:xfrm>
          <a:prstGeom prst="rect">
            <a:avLst/>
          </a:prstGeom>
          <a:noFill/>
        </p:spPr>
        <p:txBody>
          <a:bodyPr wrap="square" anchor="ctr" lIns="45720" rIns="45720">
            <a:spAutoFit/>
          </a:bodyPr>
          <a:lstStyle/>
          <a:p>
            <a:pPr algn="l"/>
            <a:r>
              <a:rPr sz="2200" b="1">
                <a:solidFill>
                  <a:srgbClr val="1E293B"/>
                </a:solidFill>
                <a:latin typeface="맑은 고딕"/>
                <a:ea typeface="맑은 고딕"/>
              </a:rPr>
              <a:t>5. 창유리 교환</a:t>
            </a:r>
          </a:p>
        </p:txBody>
      </p:sp>
      <p:sp>
        <p:nvSpPr>
          <p:cNvPr id="18" name="Rounded Rectangle 17"/>
          <p:cNvSpPr/>
          <p:nvPr/>
        </p:nvSpPr>
        <p:spPr>
          <a:xfrm>
            <a:off x="7589520" y="1920240"/>
            <a:ext cx="4023360" cy="3017520"/>
          </a:xfrm>
          <a:prstGeom prst="roundRect">
            <a:avLst>
              <a:gd name="adj" fmla="val 12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680960" y="1920240"/>
            <a:ext cx="3840480" cy="3017520"/>
          </a:xfrm>
          <a:prstGeom prst="rect">
            <a:avLst/>
          </a:prstGeom>
          <a:noFill/>
        </p:spPr>
        <p:txBody>
          <a:bodyPr wrap="square" anchor="ctr" lIns="45720" rIns="45720">
            <a:spAutoFit/>
          </a:bodyPr>
          <a:lstStyle/>
          <a:p>
            <a:pPr algn="ctr"/>
            <a:r>
              <a:rPr sz="2800" b="1">
                <a:solidFill>
                  <a:srgbClr val="1E293B"/>
                </a:solidFill>
                <a:latin typeface="맑은 고딕"/>
                <a:ea typeface="맑은 고딕"/>
              </a:rPr>
              <a:t>엔진·유압장치</a:t>
            </a:r>
          </a:p>
          <a:p>
            <a:pPr algn="ctr"/>
            <a:r>
              <a:rPr sz="2800" b="1">
                <a:solidFill>
                  <a:srgbClr val="1E293B"/>
                </a:solidFill>
                <a:latin typeface="맑은 고딕"/>
                <a:ea typeface="맑은 고딕"/>
              </a:rPr>
              <a:t>분해</a:t>
            </a:r>
          </a:p>
          <a:p>
            <a:pPr algn="ctr"/>
            <a:r>
              <a:rPr sz="2800" b="1">
                <a:solidFill>
                  <a:srgbClr val="1E293B"/>
                </a:solidFill>
                <a:latin typeface="맑은 고딕"/>
                <a:ea typeface="맑은 고딕"/>
              </a:rPr>
              <a:t/>
            </a:r>
          </a:p>
          <a:p>
            <a:pPr algn="ctr"/>
            <a:r>
              <a:rPr sz="2800" b="1">
                <a:solidFill>
                  <a:srgbClr val="1E293B"/>
                </a:solidFill>
                <a:latin typeface="맑은 고딕"/>
                <a:ea typeface="맑은 고딕"/>
              </a:rPr>
              <a:t>→ 자세히 확인</a:t>
            </a:r>
          </a:p>
        </p:txBody>
      </p:sp>
      <p:sp>
        <p:nvSpPr>
          <p:cNvPr id="20" name="TextBox 19"/>
          <p:cNvSpPr txBox="1"/>
          <p:nvPr/>
        </p:nvSpPr>
        <p:spPr>
          <a:xfrm>
            <a:off x="548640" y="5138928"/>
            <a:ext cx="11064240" cy="384048"/>
          </a:xfrm>
          <a:prstGeom prst="rect">
            <a:avLst/>
          </a:prstGeom>
          <a:noFill/>
        </p:spPr>
        <p:txBody>
          <a:bodyPr wrap="square" anchor="t" lIns="45720" rIns="45720">
            <a:spAutoFit/>
          </a:bodyPr>
          <a:lstStyle/>
          <a:p>
            <a:pPr algn="l"/>
            <a:r>
              <a:rPr sz="1500" b="0">
                <a:solidFill>
                  <a:srgbClr val="5F6B7A"/>
                </a:solidFill>
                <a:latin typeface="맑은 고딕"/>
                <a:ea typeface="맑은 고딕"/>
              </a:rPr>
              <a:t>「건설기계관리법 시행규칙」 제1조의3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57200" y="219456"/>
            <a:ext cx="713232" cy="713232"/>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9456"/>
            <a:ext cx="713232" cy="713232"/>
          </a:xfrm>
          <a:prstGeom prst="rect">
            <a:avLst/>
          </a:prstGeom>
          <a:noFill/>
        </p:spPr>
        <p:txBody>
          <a:bodyPr wrap="square" anchor="ctr" lIns="45720" rIns="45720">
            <a:spAutoFit/>
          </a:bodyPr>
          <a:lstStyle/>
          <a:p>
            <a:pPr algn="ctr"/>
            <a:r>
              <a:rPr sz="2800" b="1">
                <a:solidFill>
                  <a:srgbClr val="FFFFFF"/>
                </a:solidFill>
                <a:latin typeface="맑은 고딕"/>
                <a:ea typeface="맑은 고딕"/>
              </a:rPr>
              <a:t>④</a:t>
            </a:r>
          </a:p>
        </p:txBody>
      </p:sp>
      <p:sp>
        <p:nvSpPr>
          <p:cNvPr id="5" name="TextBox 4"/>
          <p:cNvSpPr txBox="1"/>
          <p:nvPr/>
        </p:nvSpPr>
        <p:spPr>
          <a:xfrm>
            <a:off x="1371600" y="182880"/>
            <a:ext cx="8778240" cy="786384"/>
          </a:xfrm>
          <a:prstGeom prst="rect">
            <a:avLst/>
          </a:prstGeom>
          <a:noFill/>
        </p:spPr>
        <p:txBody>
          <a:bodyPr wrap="square" anchor="ctr" lIns="45720" rIns="45720">
            <a:spAutoFit/>
          </a:bodyPr>
          <a:lstStyle/>
          <a:p>
            <a:pPr algn="l"/>
            <a:r>
              <a:rPr sz="3600" b="1">
                <a:solidFill>
                  <a:srgbClr val="FFFFFF"/>
                </a:solidFill>
                <a:latin typeface="맑은 고딕"/>
                <a:ea typeface="맑은 고딕"/>
              </a:rPr>
              <a:t>대가와 영업 형태</a:t>
            </a:r>
          </a:p>
        </p:txBody>
      </p:sp>
      <p:sp>
        <p:nvSpPr>
          <p:cNvPr id="6" name="TextBox 5"/>
          <p:cNvSpPr txBox="1"/>
          <p:nvPr/>
        </p:nvSpPr>
        <p:spPr>
          <a:xfrm>
            <a:off x="9418320" y="320040"/>
            <a:ext cx="2468880" cy="502920"/>
          </a:xfrm>
          <a:prstGeom prst="rect">
            <a:avLst/>
          </a:prstGeom>
          <a:noFill/>
        </p:spPr>
        <p:txBody>
          <a:bodyPr wrap="square" anchor="ctr" lIns="45720" rIns="45720">
            <a:spAutoFit/>
          </a:bodyPr>
          <a:lstStyle/>
          <a:p>
            <a:pPr algn="r"/>
            <a:r>
              <a:rPr sz="1400" b="0">
                <a:solidFill>
                  <a:srgbClr val="C8D6E5"/>
                </a:solidFill>
                <a:latin typeface="맑은 고딕"/>
                <a:ea typeface="맑은 고딕"/>
              </a:rPr>
              <a:t>현장점검 실무교육  06 / 13</a:t>
            </a:r>
          </a:p>
        </p:txBody>
      </p:sp>
      <p:sp>
        <p:nvSpPr>
          <p:cNvPr id="7" name="Rounded Rectangle 6"/>
          <p:cNvSpPr/>
          <p:nvPr/>
        </p:nvSpPr>
        <p:spPr>
          <a:xfrm>
            <a:off x="548640" y="1463040"/>
            <a:ext cx="11064240" cy="822960"/>
          </a:xfrm>
          <a:prstGeom prst="roundRect">
            <a:avLst>
              <a:gd name="adj" fmla="val 12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63040"/>
            <a:ext cx="10881360" cy="822960"/>
          </a:xfrm>
          <a:prstGeom prst="rect">
            <a:avLst/>
          </a:prstGeom>
          <a:noFill/>
        </p:spPr>
        <p:txBody>
          <a:bodyPr wrap="square" anchor="ctr" lIns="45720" rIns="45720">
            <a:spAutoFit/>
          </a:bodyPr>
          <a:lstStyle/>
          <a:p>
            <a:pPr algn="ctr"/>
            <a:r>
              <a:rPr sz="3000" b="1">
                <a:solidFill>
                  <a:srgbClr val="1E293B"/>
                </a:solidFill>
                <a:latin typeface="맑은 고딕"/>
                <a:ea typeface="맑은 고딕"/>
              </a:rPr>
              <a:t>정비업 = 정비를 '업으로' 하는 것</a:t>
            </a:r>
          </a:p>
        </p:txBody>
      </p:sp>
      <p:sp>
        <p:nvSpPr>
          <p:cNvPr id="9" name="Rounded Rectangle 8"/>
          <p:cNvSpPr/>
          <p:nvPr/>
        </p:nvSpPr>
        <p:spPr>
          <a:xfrm>
            <a:off x="548640" y="2560320"/>
            <a:ext cx="3566160" cy="10972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560320"/>
            <a:ext cx="3383279" cy="1097280"/>
          </a:xfrm>
          <a:prstGeom prst="rect">
            <a:avLst/>
          </a:prstGeom>
          <a:noFill/>
        </p:spPr>
        <p:txBody>
          <a:bodyPr wrap="square" anchor="ctr" lIns="45720" rIns="45720">
            <a:spAutoFit/>
          </a:bodyPr>
          <a:lstStyle/>
          <a:p>
            <a:pPr algn="ctr"/>
            <a:r>
              <a:rPr sz="2600" b="1">
                <a:solidFill>
                  <a:srgbClr val="1E293B"/>
                </a:solidFill>
                <a:latin typeface="맑은 고딕"/>
                <a:ea typeface="맑은 고딕"/>
              </a:rPr>
              <a:t>수리비를 받았나</a:t>
            </a:r>
          </a:p>
        </p:txBody>
      </p:sp>
      <p:sp>
        <p:nvSpPr>
          <p:cNvPr id="11" name="Rounded Rectangle 10"/>
          <p:cNvSpPr/>
          <p:nvPr/>
        </p:nvSpPr>
        <p:spPr>
          <a:xfrm>
            <a:off x="4297679" y="2560320"/>
            <a:ext cx="3566160" cy="10972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19" y="2560320"/>
            <a:ext cx="3383279" cy="1097280"/>
          </a:xfrm>
          <a:prstGeom prst="rect">
            <a:avLst/>
          </a:prstGeom>
          <a:noFill/>
        </p:spPr>
        <p:txBody>
          <a:bodyPr wrap="square" anchor="ctr" lIns="45720" rIns="45720">
            <a:spAutoFit/>
          </a:bodyPr>
          <a:lstStyle/>
          <a:p>
            <a:pPr algn="ctr"/>
            <a:r>
              <a:rPr sz="2600" b="1">
                <a:solidFill>
                  <a:srgbClr val="1E293B"/>
                </a:solidFill>
                <a:latin typeface="맑은 고딕"/>
                <a:ea typeface="맑은 고딕"/>
              </a:rPr>
              <a:t>견적서·거래명세서</a:t>
            </a:r>
          </a:p>
        </p:txBody>
      </p:sp>
      <p:sp>
        <p:nvSpPr>
          <p:cNvPr id="13" name="Rounded Rectangle 12"/>
          <p:cNvSpPr/>
          <p:nvPr/>
        </p:nvSpPr>
        <p:spPr>
          <a:xfrm>
            <a:off x="8046719" y="2560320"/>
            <a:ext cx="3566160" cy="10972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138159" y="2560320"/>
            <a:ext cx="3383279" cy="1097280"/>
          </a:xfrm>
          <a:prstGeom prst="rect">
            <a:avLst/>
          </a:prstGeom>
          <a:noFill/>
        </p:spPr>
        <p:txBody>
          <a:bodyPr wrap="square" anchor="ctr" lIns="45720" rIns="45720">
            <a:spAutoFit/>
          </a:bodyPr>
          <a:lstStyle/>
          <a:p>
            <a:pPr algn="ctr"/>
            <a:r>
              <a:rPr sz="2600" b="1">
                <a:solidFill>
                  <a:srgbClr val="1E293B"/>
                </a:solidFill>
                <a:latin typeface="맑은 고딕"/>
                <a:ea typeface="맑은 고딕"/>
              </a:rPr>
              <a:t>비슷한 작업의 반복</a:t>
            </a:r>
          </a:p>
        </p:txBody>
      </p:sp>
      <p:sp>
        <p:nvSpPr>
          <p:cNvPr id="15" name="Rounded Rectangle 14"/>
          <p:cNvSpPr/>
          <p:nvPr/>
        </p:nvSpPr>
        <p:spPr>
          <a:xfrm>
            <a:off x="548640" y="3931920"/>
            <a:ext cx="11064240" cy="822960"/>
          </a:xfrm>
          <a:prstGeom prst="roundRect">
            <a:avLst>
              <a:gd name="adj" fmla="val 12000"/>
            </a:avLst>
          </a:prstGeom>
          <a:solidFill>
            <a:srgbClr val="EEF3F8"/>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931920"/>
            <a:ext cx="10881360" cy="822960"/>
          </a:xfrm>
          <a:prstGeom prst="rect">
            <a:avLst/>
          </a:prstGeom>
          <a:noFill/>
        </p:spPr>
        <p:txBody>
          <a:bodyPr wrap="square" anchor="ctr" lIns="45720" rIns="45720">
            <a:spAutoFit/>
          </a:bodyPr>
          <a:lstStyle/>
          <a:p>
            <a:pPr algn="ctr"/>
            <a:r>
              <a:rPr sz="2400" b="1">
                <a:solidFill>
                  <a:srgbClr val="1F3A5F"/>
                </a:solidFill>
                <a:latin typeface="맑은 고딕"/>
                <a:ea typeface="맑은 고딕"/>
              </a:rPr>
              <a:t>'무료로 해 줬다'는 설명만으로 판단을 끝내지 않습니다</a:t>
            </a:r>
          </a:p>
        </p:txBody>
      </p:sp>
      <p:sp>
        <p:nvSpPr>
          <p:cNvPr id="17" name="TextBox 16"/>
          <p:cNvSpPr txBox="1"/>
          <p:nvPr/>
        </p:nvSpPr>
        <p:spPr>
          <a:xfrm>
            <a:off x="548640" y="5138928"/>
            <a:ext cx="11064240" cy="384048"/>
          </a:xfrm>
          <a:prstGeom prst="rect">
            <a:avLst/>
          </a:prstGeom>
          <a:noFill/>
        </p:spPr>
        <p:txBody>
          <a:bodyPr wrap="square" anchor="t" lIns="45720" rIns="45720">
            <a:spAutoFit/>
          </a:bodyPr>
          <a:lstStyle/>
          <a:p>
            <a:pPr algn="l"/>
            <a:r>
              <a:rPr sz="1500" b="0">
                <a:solidFill>
                  <a:srgbClr val="5F6B7A"/>
                </a:solidFill>
                <a:latin typeface="맑은 고딕"/>
                <a:ea typeface="맑은 고딕"/>
              </a:rPr>
              <a:t>「건설기계관리법」 제2조제1항제5호</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57200" y="219456"/>
            <a:ext cx="713232" cy="713232"/>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9456"/>
            <a:ext cx="713232" cy="713232"/>
          </a:xfrm>
          <a:prstGeom prst="rect">
            <a:avLst/>
          </a:prstGeom>
          <a:noFill/>
        </p:spPr>
        <p:txBody>
          <a:bodyPr wrap="square" anchor="ctr" lIns="45720" rIns="45720">
            <a:spAutoFit/>
          </a:bodyPr>
          <a:lstStyle/>
          <a:p>
            <a:pPr algn="ctr"/>
            <a:r>
              <a:rPr sz="2800" b="1">
                <a:solidFill>
                  <a:srgbClr val="FFFFFF"/>
                </a:solidFill>
                <a:latin typeface="맑은 고딕"/>
                <a:ea typeface="맑은 고딕"/>
              </a:rPr>
              <a:t>⑤</a:t>
            </a:r>
          </a:p>
        </p:txBody>
      </p:sp>
      <p:sp>
        <p:nvSpPr>
          <p:cNvPr id="5" name="TextBox 4"/>
          <p:cNvSpPr txBox="1"/>
          <p:nvPr/>
        </p:nvSpPr>
        <p:spPr>
          <a:xfrm>
            <a:off x="1371600" y="182880"/>
            <a:ext cx="8778240" cy="786384"/>
          </a:xfrm>
          <a:prstGeom prst="rect">
            <a:avLst/>
          </a:prstGeom>
          <a:noFill/>
        </p:spPr>
        <p:txBody>
          <a:bodyPr wrap="square" anchor="ctr" lIns="45720" rIns="45720">
            <a:spAutoFit/>
          </a:bodyPr>
          <a:lstStyle/>
          <a:p>
            <a:pPr algn="l"/>
            <a:r>
              <a:rPr sz="3600" b="1">
                <a:solidFill>
                  <a:srgbClr val="FFFFFF"/>
                </a:solidFill>
                <a:latin typeface="맑은 고딕"/>
                <a:ea typeface="맑은 고딕"/>
              </a:rPr>
              <a:t>사업자와 장소 사용 관계</a:t>
            </a:r>
          </a:p>
        </p:txBody>
      </p:sp>
      <p:sp>
        <p:nvSpPr>
          <p:cNvPr id="6" name="TextBox 5"/>
          <p:cNvSpPr txBox="1"/>
          <p:nvPr/>
        </p:nvSpPr>
        <p:spPr>
          <a:xfrm>
            <a:off x="9418320" y="320040"/>
            <a:ext cx="2468880" cy="502920"/>
          </a:xfrm>
          <a:prstGeom prst="rect">
            <a:avLst/>
          </a:prstGeom>
          <a:noFill/>
        </p:spPr>
        <p:txBody>
          <a:bodyPr wrap="square" anchor="ctr" lIns="45720" rIns="45720">
            <a:spAutoFit/>
          </a:bodyPr>
          <a:lstStyle/>
          <a:p>
            <a:pPr algn="r"/>
            <a:r>
              <a:rPr sz="1400" b="0">
                <a:solidFill>
                  <a:srgbClr val="C8D6E5"/>
                </a:solidFill>
                <a:latin typeface="맑은 고딕"/>
                <a:ea typeface="맑은 고딕"/>
              </a:rPr>
              <a:t>현장점검 실무교육  07 / 13</a:t>
            </a:r>
          </a:p>
        </p:txBody>
      </p:sp>
      <p:sp>
        <p:nvSpPr>
          <p:cNvPr id="7" name="Rounded Rectangle 6"/>
          <p:cNvSpPr/>
          <p:nvPr/>
        </p:nvSpPr>
        <p:spPr>
          <a:xfrm>
            <a:off x="548640" y="1463040"/>
            <a:ext cx="3566160" cy="10058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63040"/>
            <a:ext cx="3383279" cy="1005840"/>
          </a:xfrm>
          <a:prstGeom prst="rect">
            <a:avLst/>
          </a:prstGeom>
          <a:noFill/>
        </p:spPr>
        <p:txBody>
          <a:bodyPr wrap="square" anchor="ctr" lIns="45720" rIns="45720">
            <a:spAutoFit/>
          </a:bodyPr>
          <a:lstStyle/>
          <a:p>
            <a:pPr algn="ctr"/>
            <a:r>
              <a:rPr sz="3000" b="1">
                <a:solidFill>
                  <a:srgbClr val="1E293B"/>
                </a:solidFill>
                <a:latin typeface="맑은 고딕"/>
                <a:ea typeface="맑은 고딕"/>
              </a:rPr>
              <a:t>같은 사업자?</a:t>
            </a:r>
          </a:p>
        </p:txBody>
      </p:sp>
      <p:sp>
        <p:nvSpPr>
          <p:cNvPr id="9" name="Rounded Rectangle 8"/>
          <p:cNvSpPr/>
          <p:nvPr/>
        </p:nvSpPr>
        <p:spPr>
          <a:xfrm>
            <a:off x="4297679" y="1463040"/>
            <a:ext cx="3566160" cy="10058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19" y="1463040"/>
            <a:ext cx="3383279" cy="1005840"/>
          </a:xfrm>
          <a:prstGeom prst="rect">
            <a:avLst/>
          </a:prstGeom>
          <a:noFill/>
        </p:spPr>
        <p:txBody>
          <a:bodyPr wrap="square" anchor="ctr" lIns="45720" rIns="45720">
            <a:spAutoFit/>
          </a:bodyPr>
          <a:lstStyle/>
          <a:p>
            <a:pPr algn="ctr"/>
            <a:r>
              <a:rPr sz="3000" b="1">
                <a:solidFill>
                  <a:srgbClr val="1E293B"/>
                </a:solidFill>
                <a:latin typeface="맑은 고딕"/>
                <a:ea typeface="맑은 고딕"/>
              </a:rPr>
              <a:t>임대?</a:t>
            </a:r>
          </a:p>
        </p:txBody>
      </p:sp>
      <p:sp>
        <p:nvSpPr>
          <p:cNvPr id="11" name="Rounded Rectangle 10"/>
          <p:cNvSpPr/>
          <p:nvPr/>
        </p:nvSpPr>
        <p:spPr>
          <a:xfrm>
            <a:off x="8046719" y="1463040"/>
            <a:ext cx="3566160" cy="10058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59" y="1463040"/>
            <a:ext cx="3383279" cy="1005840"/>
          </a:xfrm>
          <a:prstGeom prst="rect">
            <a:avLst/>
          </a:prstGeom>
          <a:noFill/>
        </p:spPr>
        <p:txBody>
          <a:bodyPr wrap="square" anchor="ctr" lIns="45720" rIns="45720">
            <a:spAutoFit/>
          </a:bodyPr>
          <a:lstStyle/>
          <a:p>
            <a:pPr algn="ctr"/>
            <a:r>
              <a:rPr sz="3000" b="1">
                <a:solidFill>
                  <a:srgbClr val="1E293B"/>
                </a:solidFill>
                <a:latin typeface="맑은 고딕"/>
                <a:ea typeface="맑은 고딕"/>
              </a:rPr>
              <a:t>위탁?</a:t>
            </a:r>
          </a:p>
        </p:txBody>
      </p:sp>
      <p:sp>
        <p:nvSpPr>
          <p:cNvPr id="13" name="Rounded Rectangle 12"/>
          <p:cNvSpPr/>
          <p:nvPr/>
        </p:nvSpPr>
        <p:spPr>
          <a:xfrm>
            <a:off x="548640" y="2743200"/>
            <a:ext cx="5440680" cy="2011680"/>
          </a:xfrm>
          <a:prstGeom prst="roundRect">
            <a:avLst>
              <a:gd name="adj" fmla="val 12000"/>
            </a:avLst>
          </a:prstGeom>
          <a:solidFill>
            <a:srgbClr val="E8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743200"/>
            <a:ext cx="5257800" cy="2011680"/>
          </a:xfrm>
          <a:prstGeom prst="rect">
            <a:avLst/>
          </a:prstGeom>
          <a:noFill/>
        </p:spPr>
        <p:txBody>
          <a:bodyPr wrap="square" anchor="ctr" lIns="45720" rIns="45720">
            <a:spAutoFit/>
          </a:bodyPr>
          <a:lstStyle/>
          <a:p>
            <a:pPr algn="ctr"/>
            <a:r>
              <a:rPr sz="2400" b="1">
                <a:solidFill>
                  <a:srgbClr val="1E8E4E"/>
                </a:solidFill>
                <a:latin typeface="맑은 고딕"/>
                <a:ea typeface="맑은 고딕"/>
              </a:rPr>
              <a:t>○  기록할 수 있는 것</a:t>
            </a:r>
          </a:p>
          <a:p>
            <a:pPr algn="ctr"/>
            <a:r>
              <a:rPr sz="2400" b="1">
                <a:solidFill>
                  <a:srgbClr val="1E8E4E"/>
                </a:solidFill>
                <a:latin typeface="맑은 고딕"/>
                <a:ea typeface="맑은 고딕"/>
              </a:rPr>
              <a:t/>
            </a:r>
          </a:p>
          <a:p>
            <a:pPr algn="ctr"/>
            <a:r>
              <a:rPr sz="2400" b="1">
                <a:solidFill>
                  <a:srgbClr val="1E8E4E"/>
                </a:solidFill>
                <a:latin typeface="맑은 고딕"/>
                <a:ea typeface="맑은 고딕"/>
              </a:rPr>
              <a:t>업체가 스스로 보여 준</a:t>
            </a:r>
          </a:p>
          <a:p>
            <a:pPr algn="ctr"/>
            <a:r>
              <a:rPr sz="2400" b="1">
                <a:solidFill>
                  <a:srgbClr val="1E8E4E"/>
                </a:solidFill>
                <a:latin typeface="맑은 고딕"/>
                <a:ea typeface="맑은 고딕"/>
              </a:rPr>
              <a:t>계약서 · 명함</a:t>
            </a:r>
          </a:p>
        </p:txBody>
      </p:sp>
      <p:sp>
        <p:nvSpPr>
          <p:cNvPr id="15" name="Rounded Rectangle 14"/>
          <p:cNvSpPr/>
          <p:nvPr/>
        </p:nvSpPr>
        <p:spPr>
          <a:xfrm>
            <a:off x="6172200" y="2743200"/>
            <a:ext cx="5440680" cy="2011680"/>
          </a:xfrm>
          <a:prstGeom prst="roundRect">
            <a:avLst>
              <a:gd name="adj" fmla="val 12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63640" y="2743200"/>
            <a:ext cx="5257800" cy="2011680"/>
          </a:xfrm>
          <a:prstGeom prst="rect">
            <a:avLst/>
          </a:prstGeom>
          <a:noFill/>
        </p:spPr>
        <p:txBody>
          <a:bodyPr wrap="square" anchor="ctr" lIns="45720" rIns="45720">
            <a:spAutoFit/>
          </a:bodyPr>
          <a:lstStyle/>
          <a:p>
            <a:pPr algn="ctr"/>
            <a:r>
              <a:rPr sz="2400" b="1">
                <a:solidFill>
                  <a:srgbClr val="C0392B"/>
                </a:solidFill>
                <a:latin typeface="맑은 고딕"/>
                <a:ea typeface="맑은 고딕"/>
              </a:rPr>
              <a:t>✕  하지 않는 것</a:t>
            </a:r>
          </a:p>
          <a:p>
            <a:pPr algn="ctr"/>
            <a:r>
              <a:rPr sz="2400" b="1">
                <a:solidFill>
                  <a:srgbClr val="C0392B"/>
                </a:solidFill>
                <a:latin typeface="맑은 고딕"/>
                <a:ea typeface="맑은 고딕"/>
              </a:rPr>
              <a:t/>
            </a:r>
          </a:p>
          <a:p>
            <a:pPr algn="ctr"/>
            <a:r>
              <a:rPr sz="2400" b="1">
                <a:solidFill>
                  <a:srgbClr val="C0392B"/>
                </a:solidFill>
                <a:latin typeface="맑은 고딕"/>
                <a:ea typeface="맑은 고딕"/>
              </a:rPr>
              <a:t>자료 제출 강요</a:t>
            </a:r>
          </a:p>
          <a:p>
            <a:pPr algn="ctr"/>
            <a:r>
              <a:rPr sz="2400" b="1">
                <a:solidFill>
                  <a:srgbClr val="C0392B"/>
                </a:solidFill>
                <a:latin typeface="맑은 고딕"/>
                <a:ea typeface="맑은 고딕"/>
              </a:rPr>
              <a:t>사무실 안 살펴보기</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57200" y="219456"/>
            <a:ext cx="713232" cy="713232"/>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9456"/>
            <a:ext cx="713232" cy="713232"/>
          </a:xfrm>
          <a:prstGeom prst="rect">
            <a:avLst/>
          </a:prstGeom>
          <a:noFill/>
        </p:spPr>
        <p:txBody>
          <a:bodyPr wrap="square" anchor="ctr" lIns="45720" rIns="45720">
            <a:spAutoFit/>
          </a:bodyPr>
          <a:lstStyle/>
          <a:p>
            <a:pPr algn="ctr"/>
            <a:r>
              <a:rPr sz="2800" b="1">
                <a:solidFill>
                  <a:srgbClr val="FFFFFF"/>
                </a:solidFill>
                <a:latin typeface="맑은 고딕"/>
                <a:ea typeface="맑은 고딕"/>
              </a:rPr>
              <a:t>⑥</a:t>
            </a:r>
          </a:p>
        </p:txBody>
      </p:sp>
      <p:sp>
        <p:nvSpPr>
          <p:cNvPr id="5" name="TextBox 4"/>
          <p:cNvSpPr txBox="1"/>
          <p:nvPr/>
        </p:nvSpPr>
        <p:spPr>
          <a:xfrm>
            <a:off x="1371600" y="182880"/>
            <a:ext cx="8778240" cy="786384"/>
          </a:xfrm>
          <a:prstGeom prst="rect">
            <a:avLst/>
          </a:prstGeom>
          <a:noFill/>
        </p:spPr>
        <p:txBody>
          <a:bodyPr wrap="square" anchor="ctr" lIns="45720" rIns="45720">
            <a:spAutoFit/>
          </a:bodyPr>
          <a:lstStyle/>
          <a:p>
            <a:pPr algn="l"/>
            <a:r>
              <a:rPr sz="3600" b="1">
                <a:solidFill>
                  <a:srgbClr val="FFFFFF"/>
                </a:solidFill>
                <a:latin typeface="맑은 고딕"/>
                <a:ea typeface="맑은 고딕"/>
              </a:rPr>
              <a:t>등록 여부와 허용 범위</a:t>
            </a:r>
          </a:p>
        </p:txBody>
      </p:sp>
      <p:sp>
        <p:nvSpPr>
          <p:cNvPr id="6" name="TextBox 5"/>
          <p:cNvSpPr txBox="1"/>
          <p:nvPr/>
        </p:nvSpPr>
        <p:spPr>
          <a:xfrm>
            <a:off x="9418320" y="320040"/>
            <a:ext cx="2468880" cy="502920"/>
          </a:xfrm>
          <a:prstGeom prst="rect">
            <a:avLst/>
          </a:prstGeom>
          <a:noFill/>
        </p:spPr>
        <p:txBody>
          <a:bodyPr wrap="square" anchor="ctr" lIns="45720" rIns="45720">
            <a:spAutoFit/>
          </a:bodyPr>
          <a:lstStyle/>
          <a:p>
            <a:pPr algn="r"/>
            <a:r>
              <a:rPr sz="1400" b="0">
                <a:solidFill>
                  <a:srgbClr val="C8D6E5"/>
                </a:solidFill>
                <a:latin typeface="맑은 고딕"/>
                <a:ea typeface="맑은 고딕"/>
              </a:rPr>
              <a:t>현장점검 실무교육  08 / 13</a:t>
            </a:r>
          </a:p>
        </p:txBody>
      </p:sp>
      <p:sp>
        <p:nvSpPr>
          <p:cNvPr id="7" name="Rounded Rectangle 6"/>
          <p:cNvSpPr/>
          <p:nvPr/>
        </p:nvSpPr>
        <p:spPr>
          <a:xfrm>
            <a:off x="548640" y="1463040"/>
            <a:ext cx="11064240" cy="822960"/>
          </a:xfrm>
          <a:prstGeom prst="roundRect">
            <a:avLst>
              <a:gd name="adj" fmla="val 12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63040"/>
            <a:ext cx="10881360" cy="822960"/>
          </a:xfrm>
          <a:prstGeom prst="rect">
            <a:avLst/>
          </a:prstGeom>
          <a:noFill/>
        </p:spPr>
        <p:txBody>
          <a:bodyPr wrap="square" anchor="ctr" lIns="45720" rIns="45720">
            <a:spAutoFit/>
          </a:bodyPr>
          <a:lstStyle/>
          <a:p>
            <a:pPr algn="ctr"/>
            <a:r>
              <a:rPr sz="3000" b="1">
                <a:solidFill>
                  <a:srgbClr val="1E293B"/>
                </a:solidFill>
                <a:latin typeface="맑은 고딕"/>
                <a:ea typeface="맑은 고딕"/>
              </a:rPr>
              <a:t>사업자등록증 ≠ 정비업 등록증</a:t>
            </a:r>
          </a:p>
        </p:txBody>
      </p:sp>
      <p:sp>
        <p:nvSpPr>
          <p:cNvPr id="9" name="Rounded Rectangle 8"/>
          <p:cNvSpPr/>
          <p:nvPr/>
        </p:nvSpPr>
        <p:spPr>
          <a:xfrm>
            <a:off x="548640" y="2514600"/>
            <a:ext cx="11064240" cy="713232"/>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514600"/>
            <a:ext cx="10881360" cy="713232"/>
          </a:xfrm>
          <a:prstGeom prst="rect">
            <a:avLst/>
          </a:prstGeom>
          <a:noFill/>
        </p:spPr>
        <p:txBody>
          <a:bodyPr wrap="square" anchor="ctr" lIns="45720" rIns="45720">
            <a:spAutoFit/>
          </a:bodyPr>
          <a:lstStyle/>
          <a:p>
            <a:pPr algn="l"/>
            <a:r>
              <a:rPr sz="2200" b="1">
                <a:solidFill>
                  <a:srgbClr val="1E293B"/>
                </a:solidFill>
                <a:latin typeface="맑은 고딕"/>
                <a:ea typeface="맑은 고딕"/>
              </a:rPr>
              <a:t>등록 여부 · 업종 · 사업장 소재지 대조 (협회 통보 자료 · 관할 기관 확인)</a:t>
            </a:r>
          </a:p>
        </p:txBody>
      </p:sp>
      <p:sp>
        <p:nvSpPr>
          <p:cNvPr id="11" name="Rounded Rectangle 10"/>
          <p:cNvSpPr/>
          <p:nvPr/>
        </p:nvSpPr>
        <p:spPr>
          <a:xfrm>
            <a:off x="548640" y="3337560"/>
            <a:ext cx="11064240" cy="713232"/>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337560"/>
            <a:ext cx="10881360" cy="713232"/>
          </a:xfrm>
          <a:prstGeom prst="rect">
            <a:avLst/>
          </a:prstGeom>
          <a:noFill/>
        </p:spPr>
        <p:txBody>
          <a:bodyPr wrap="square" anchor="ctr" lIns="45720" rIns="45720">
            <a:spAutoFit/>
          </a:bodyPr>
          <a:lstStyle/>
          <a:p>
            <a:pPr algn="l"/>
            <a:r>
              <a:rPr sz="2200" b="1">
                <a:solidFill>
                  <a:srgbClr val="1E293B"/>
                </a:solidFill>
                <a:latin typeface="맑은 고딕"/>
                <a:ea typeface="맑은 고딕"/>
              </a:rPr>
              <a:t>업종별 정비 범위 확인 — 종합정비업도 기종이 정해진 경우가 있음</a:t>
            </a:r>
          </a:p>
        </p:txBody>
      </p:sp>
      <p:sp>
        <p:nvSpPr>
          <p:cNvPr id="13" name="Rounded Rectangle 12"/>
          <p:cNvSpPr/>
          <p:nvPr/>
        </p:nvSpPr>
        <p:spPr>
          <a:xfrm>
            <a:off x="548640" y="4160520"/>
            <a:ext cx="11064240" cy="713232"/>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160520"/>
            <a:ext cx="10881360" cy="713232"/>
          </a:xfrm>
          <a:prstGeom prst="rect">
            <a:avLst/>
          </a:prstGeom>
          <a:noFill/>
        </p:spPr>
        <p:txBody>
          <a:bodyPr wrap="square" anchor="ctr" lIns="45720" rIns="45720">
            <a:spAutoFit/>
          </a:bodyPr>
          <a:lstStyle/>
          <a:p>
            <a:pPr algn="l"/>
            <a:r>
              <a:rPr sz="2200" b="1">
                <a:solidFill>
                  <a:srgbClr val="1E293B"/>
                </a:solidFill>
                <a:latin typeface="맑은 고딕"/>
                <a:ea typeface="맑은 고딕"/>
              </a:rPr>
              <a:t>이동정비: 응급조치·장치 탈부착 중심, 분해 정비는 제외</a:t>
            </a:r>
          </a:p>
        </p:txBody>
      </p:sp>
      <p:sp>
        <p:nvSpPr>
          <p:cNvPr id="15" name="TextBox 14"/>
          <p:cNvSpPr txBox="1"/>
          <p:nvPr/>
        </p:nvSpPr>
        <p:spPr>
          <a:xfrm>
            <a:off x="548640" y="5138928"/>
            <a:ext cx="11064240" cy="384048"/>
          </a:xfrm>
          <a:prstGeom prst="rect">
            <a:avLst/>
          </a:prstGeom>
          <a:noFill/>
        </p:spPr>
        <p:txBody>
          <a:bodyPr wrap="square" anchor="t" lIns="45720" rIns="45720">
            <a:spAutoFit/>
          </a:bodyPr>
          <a:lstStyle/>
          <a:p>
            <a:pPr algn="l"/>
            <a:r>
              <a:rPr sz="1500" b="0">
                <a:solidFill>
                  <a:srgbClr val="5F6B7A"/>
                </a:solidFill>
                <a:latin typeface="맑은 고딕"/>
                <a:ea typeface="맑은 고딕"/>
              </a:rPr>
              <a:t>「건설기계관리법」 제21조 · 「시행령」 제14조, 별표 2 · 「시행규칙」 제60조, 제61조, 별표 15, 제68조</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57200" y="219456"/>
            <a:ext cx="713232" cy="713232"/>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9456"/>
            <a:ext cx="713232" cy="713232"/>
          </a:xfrm>
          <a:prstGeom prst="rect">
            <a:avLst/>
          </a:prstGeom>
          <a:noFill/>
        </p:spPr>
        <p:txBody>
          <a:bodyPr wrap="square" anchor="ctr" lIns="45720" rIns="45720">
            <a:spAutoFit/>
          </a:bodyPr>
          <a:lstStyle/>
          <a:p>
            <a:pPr algn="ctr"/>
            <a:r>
              <a:rPr sz="2800" b="1">
                <a:solidFill>
                  <a:srgbClr val="FFFFFF"/>
                </a:solidFill>
                <a:latin typeface="맑은 고딕"/>
                <a:ea typeface="맑은 고딕"/>
              </a:rPr>
              <a:t>⑦</a:t>
            </a:r>
          </a:p>
        </p:txBody>
      </p:sp>
      <p:sp>
        <p:nvSpPr>
          <p:cNvPr id="5" name="TextBox 4"/>
          <p:cNvSpPr txBox="1"/>
          <p:nvPr/>
        </p:nvSpPr>
        <p:spPr>
          <a:xfrm>
            <a:off x="1371600" y="182880"/>
            <a:ext cx="8778240" cy="786384"/>
          </a:xfrm>
          <a:prstGeom prst="rect">
            <a:avLst/>
          </a:prstGeom>
          <a:noFill/>
        </p:spPr>
        <p:txBody>
          <a:bodyPr wrap="square" anchor="ctr" lIns="45720" rIns="45720">
            <a:spAutoFit/>
          </a:bodyPr>
          <a:lstStyle/>
          <a:p>
            <a:pPr algn="l"/>
            <a:r>
              <a:rPr sz="3600" b="1">
                <a:solidFill>
                  <a:srgbClr val="FFFFFF"/>
                </a:solidFill>
                <a:latin typeface="맑은 고딕"/>
                <a:ea typeface="맑은 고딕"/>
              </a:rPr>
              <a:t>사실과 진술 기록</a:t>
            </a:r>
          </a:p>
        </p:txBody>
      </p:sp>
      <p:sp>
        <p:nvSpPr>
          <p:cNvPr id="6" name="TextBox 5"/>
          <p:cNvSpPr txBox="1"/>
          <p:nvPr/>
        </p:nvSpPr>
        <p:spPr>
          <a:xfrm>
            <a:off x="9418320" y="320040"/>
            <a:ext cx="2468880" cy="502920"/>
          </a:xfrm>
          <a:prstGeom prst="rect">
            <a:avLst/>
          </a:prstGeom>
          <a:noFill/>
        </p:spPr>
        <p:txBody>
          <a:bodyPr wrap="square" anchor="ctr" lIns="45720" rIns="45720">
            <a:spAutoFit/>
          </a:bodyPr>
          <a:lstStyle/>
          <a:p>
            <a:pPr algn="r"/>
            <a:r>
              <a:rPr sz="1400" b="0">
                <a:solidFill>
                  <a:srgbClr val="C8D6E5"/>
                </a:solidFill>
                <a:latin typeface="맑은 고딕"/>
                <a:ea typeface="맑은 고딕"/>
              </a:rPr>
              <a:t>현장점검 실무교육  09 / 13</a:t>
            </a:r>
          </a:p>
        </p:txBody>
      </p:sp>
      <p:sp>
        <p:nvSpPr>
          <p:cNvPr id="7" name="Rounded Rectangle 6"/>
          <p:cNvSpPr/>
          <p:nvPr/>
        </p:nvSpPr>
        <p:spPr>
          <a:xfrm>
            <a:off x="548640" y="1417320"/>
            <a:ext cx="3566160" cy="685800"/>
          </a:xfrm>
          <a:prstGeom prst="roundRect">
            <a:avLst>
              <a:gd name="adj" fmla="val 12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17320"/>
            <a:ext cx="3383279" cy="685800"/>
          </a:xfrm>
          <a:prstGeom prst="rect">
            <a:avLst/>
          </a:prstGeom>
          <a:noFill/>
        </p:spPr>
        <p:txBody>
          <a:bodyPr wrap="square" anchor="ctr" lIns="45720" rIns="45720">
            <a:spAutoFit/>
          </a:bodyPr>
          <a:lstStyle/>
          <a:p>
            <a:pPr algn="ctr"/>
            <a:r>
              <a:rPr sz="2600" b="1">
                <a:solidFill>
                  <a:srgbClr val="FFFFFF"/>
                </a:solidFill>
                <a:latin typeface="맑은 고딕"/>
                <a:ea typeface="맑은 고딕"/>
              </a:rPr>
              <a:t>관찰한 사실</a:t>
            </a:r>
          </a:p>
        </p:txBody>
      </p:sp>
      <p:sp>
        <p:nvSpPr>
          <p:cNvPr id="9" name="Rounded Rectangle 8"/>
          <p:cNvSpPr/>
          <p:nvPr/>
        </p:nvSpPr>
        <p:spPr>
          <a:xfrm>
            <a:off x="4297679" y="1417320"/>
            <a:ext cx="3566160" cy="6858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89119" y="1417320"/>
            <a:ext cx="3383279" cy="685800"/>
          </a:xfrm>
          <a:prstGeom prst="rect">
            <a:avLst/>
          </a:prstGeom>
          <a:noFill/>
        </p:spPr>
        <p:txBody>
          <a:bodyPr wrap="square" anchor="ctr" lIns="45720" rIns="45720">
            <a:spAutoFit/>
          </a:bodyPr>
          <a:lstStyle/>
          <a:p>
            <a:pPr algn="ctr"/>
            <a:r>
              <a:rPr sz="2600" b="1">
                <a:solidFill>
                  <a:srgbClr val="FFFFFF"/>
                </a:solidFill>
                <a:latin typeface="맑은 고딕"/>
                <a:ea typeface="맑은 고딕"/>
              </a:rPr>
              <a:t>들은 진술</a:t>
            </a:r>
          </a:p>
        </p:txBody>
      </p:sp>
      <p:sp>
        <p:nvSpPr>
          <p:cNvPr id="11" name="Rounded Rectangle 10"/>
          <p:cNvSpPr/>
          <p:nvPr/>
        </p:nvSpPr>
        <p:spPr>
          <a:xfrm>
            <a:off x="8046719" y="1417320"/>
            <a:ext cx="3566160" cy="685800"/>
          </a:xfrm>
          <a:prstGeom prst="roundRect">
            <a:avLst>
              <a:gd name="adj" fmla="val 12000"/>
            </a:avLst>
          </a:prstGeom>
          <a:solidFill>
            <a:srgbClr val="5F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59" y="1417320"/>
            <a:ext cx="3383279" cy="685800"/>
          </a:xfrm>
          <a:prstGeom prst="rect">
            <a:avLst/>
          </a:prstGeom>
          <a:noFill/>
        </p:spPr>
        <p:txBody>
          <a:bodyPr wrap="square" anchor="ctr" lIns="45720" rIns="45720">
            <a:spAutoFit/>
          </a:bodyPr>
          <a:lstStyle/>
          <a:p>
            <a:pPr algn="ctr"/>
            <a:r>
              <a:rPr sz="2600" b="1">
                <a:solidFill>
                  <a:srgbClr val="FFFFFF"/>
                </a:solidFill>
                <a:latin typeface="맑은 고딕"/>
                <a:ea typeface="맑은 고딕"/>
              </a:rPr>
              <a:t>점검자 의견</a:t>
            </a:r>
          </a:p>
        </p:txBody>
      </p:sp>
      <p:sp>
        <p:nvSpPr>
          <p:cNvPr id="13" name="TextBox 12"/>
          <p:cNvSpPr txBox="1"/>
          <p:nvPr/>
        </p:nvSpPr>
        <p:spPr>
          <a:xfrm>
            <a:off x="548640" y="2286000"/>
            <a:ext cx="2743200" cy="548640"/>
          </a:xfrm>
          <a:prstGeom prst="rect">
            <a:avLst/>
          </a:prstGeom>
          <a:noFill/>
        </p:spPr>
        <p:txBody>
          <a:bodyPr wrap="square" anchor="t" lIns="45720" rIns="45720">
            <a:spAutoFit/>
          </a:bodyPr>
          <a:lstStyle/>
          <a:p>
            <a:pPr algn="l"/>
            <a:r>
              <a:rPr sz="3000" b="1">
                <a:solidFill>
                  <a:srgbClr val="C0392B"/>
                </a:solidFill>
                <a:latin typeface="맑은 고딕"/>
                <a:ea typeface="맑은 고딕"/>
              </a:rPr>
              <a:t>✕</a:t>
            </a:r>
          </a:p>
        </p:txBody>
      </p:sp>
      <p:sp>
        <p:nvSpPr>
          <p:cNvPr id="14" name="TextBox 13"/>
          <p:cNvSpPr txBox="1"/>
          <p:nvPr/>
        </p:nvSpPr>
        <p:spPr>
          <a:xfrm>
            <a:off x="1097280" y="2286000"/>
            <a:ext cx="10424160" cy="548640"/>
          </a:xfrm>
          <a:prstGeom prst="rect">
            <a:avLst/>
          </a:prstGeom>
          <a:noFill/>
        </p:spPr>
        <p:txBody>
          <a:bodyPr wrap="square" anchor="t" lIns="45720" rIns="45720">
            <a:spAutoFit/>
          </a:bodyPr>
          <a:lstStyle/>
          <a:p>
            <a:pPr algn="l"/>
            <a:r>
              <a:rPr sz="2600" b="1" strike="sngStrike">
                <a:solidFill>
                  <a:srgbClr val="5F6B7A"/>
                </a:solidFill>
                <a:latin typeface="맑은 고딕"/>
                <a:ea typeface="맑은 고딕"/>
              </a:rPr>
              <a:t>무등록 정비 중</a:t>
            </a:r>
          </a:p>
        </p:txBody>
      </p:sp>
      <p:sp>
        <p:nvSpPr>
          <p:cNvPr id="15" name="Rounded Rectangle 14"/>
          <p:cNvSpPr/>
          <p:nvPr/>
        </p:nvSpPr>
        <p:spPr>
          <a:xfrm>
            <a:off x="548640" y="2926080"/>
            <a:ext cx="11064240" cy="1463040"/>
          </a:xfrm>
          <a:prstGeom prst="roundRect">
            <a:avLst>
              <a:gd name="adj" fmla="val 12000"/>
            </a:avLst>
          </a:prstGeom>
          <a:solidFill>
            <a:srgbClr val="EEF3F8"/>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990088"/>
            <a:ext cx="10698480" cy="1371600"/>
          </a:xfrm>
          <a:prstGeom prst="rect">
            <a:avLst/>
          </a:prstGeom>
          <a:noFill/>
        </p:spPr>
        <p:txBody>
          <a:bodyPr wrap="square" anchor="ctr" lIns="45720" rIns="45720">
            <a:spAutoFit/>
          </a:bodyPr>
          <a:lstStyle/>
          <a:p>
            <a:pPr algn="l"/>
            <a:r>
              <a:rPr sz="2400" b="1">
                <a:solidFill>
                  <a:srgbClr val="1E293B"/>
                </a:solidFill>
                <a:latin typeface="맑은 고딕"/>
                <a:ea typeface="맑은 고딕"/>
              </a:rPr>
              <a:t>○  10:20 공구점 내부, 지게차 유압장치 분해 작업 확인</a:t>
            </a:r>
          </a:p>
          <a:p>
            <a:pPr algn="l"/>
            <a:r>
              <a:rPr sz="2400" b="1">
                <a:solidFill>
                  <a:srgbClr val="1E293B"/>
                </a:solidFill>
                <a:latin typeface="맑은 고딕"/>
                <a:ea typeface="맑은 고딕"/>
              </a:rPr>
              <a:t>○  작업자 진술: "수리비 30만 원을 받기로 했다"</a:t>
            </a:r>
          </a:p>
        </p:txBody>
      </p:sp>
      <p:sp>
        <p:nvSpPr>
          <p:cNvPr id="17" name="TextBox 16"/>
          <p:cNvSpPr txBox="1"/>
          <p:nvPr/>
        </p:nvSpPr>
        <p:spPr>
          <a:xfrm>
            <a:off x="548640" y="4526280"/>
            <a:ext cx="11064240" cy="548640"/>
          </a:xfrm>
          <a:prstGeom prst="rect">
            <a:avLst/>
          </a:prstGeom>
          <a:noFill/>
        </p:spPr>
        <p:txBody>
          <a:bodyPr wrap="square" anchor="t" lIns="45720" rIns="45720">
            <a:spAutoFit/>
          </a:bodyPr>
          <a:lstStyle/>
          <a:p>
            <a:pPr algn="l"/>
            <a:r>
              <a:rPr sz="2200" b="1">
                <a:solidFill>
                  <a:srgbClr val="1F3A5F"/>
                </a:solidFill>
                <a:latin typeface="맑은 고딕"/>
                <a:ea typeface="맑은 고딕"/>
              </a:rPr>
              <a:t>사진은 업체 동의 후 촬영 · 얼굴과 개인정보는 가림</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57200" y="219456"/>
            <a:ext cx="713232" cy="713232"/>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9456"/>
            <a:ext cx="713232" cy="713232"/>
          </a:xfrm>
          <a:prstGeom prst="rect">
            <a:avLst/>
          </a:prstGeom>
          <a:noFill/>
        </p:spPr>
        <p:txBody>
          <a:bodyPr wrap="square" anchor="ctr" lIns="45720" rIns="45720">
            <a:spAutoFit/>
          </a:bodyPr>
          <a:lstStyle/>
          <a:p>
            <a:pPr algn="ctr"/>
            <a:r>
              <a:rPr sz="2800" b="1">
                <a:solidFill>
                  <a:srgbClr val="FFFFFF"/>
                </a:solidFill>
                <a:latin typeface="맑은 고딕"/>
                <a:ea typeface="맑은 고딕"/>
              </a:rPr>
              <a:t>⑦</a:t>
            </a:r>
          </a:p>
        </p:txBody>
      </p:sp>
      <p:sp>
        <p:nvSpPr>
          <p:cNvPr id="5" name="TextBox 4"/>
          <p:cNvSpPr txBox="1"/>
          <p:nvPr/>
        </p:nvSpPr>
        <p:spPr>
          <a:xfrm>
            <a:off x="1371600" y="182880"/>
            <a:ext cx="8778240" cy="786384"/>
          </a:xfrm>
          <a:prstGeom prst="rect">
            <a:avLst/>
          </a:prstGeom>
          <a:noFill/>
        </p:spPr>
        <p:txBody>
          <a:bodyPr wrap="square" anchor="ctr" lIns="45720" rIns="45720">
            <a:spAutoFit/>
          </a:bodyPr>
          <a:lstStyle/>
          <a:p>
            <a:pPr algn="l"/>
            <a:r>
              <a:rPr sz="3600" b="1">
                <a:solidFill>
                  <a:srgbClr val="FFFFFF"/>
                </a:solidFill>
                <a:latin typeface="맑은 고딕"/>
                <a:ea typeface="맑은 고딕"/>
              </a:rPr>
              <a:t>현장 질문과 권한의 한계</a:t>
            </a:r>
          </a:p>
        </p:txBody>
      </p:sp>
      <p:sp>
        <p:nvSpPr>
          <p:cNvPr id="6" name="TextBox 5"/>
          <p:cNvSpPr txBox="1"/>
          <p:nvPr/>
        </p:nvSpPr>
        <p:spPr>
          <a:xfrm>
            <a:off x="9418320" y="320040"/>
            <a:ext cx="2468880" cy="502920"/>
          </a:xfrm>
          <a:prstGeom prst="rect">
            <a:avLst/>
          </a:prstGeom>
          <a:noFill/>
        </p:spPr>
        <p:txBody>
          <a:bodyPr wrap="square" anchor="ctr" lIns="45720" rIns="45720">
            <a:spAutoFit/>
          </a:bodyPr>
          <a:lstStyle/>
          <a:p>
            <a:pPr algn="r"/>
            <a:r>
              <a:rPr sz="1400" b="0">
                <a:solidFill>
                  <a:srgbClr val="C8D6E5"/>
                </a:solidFill>
                <a:latin typeface="맑은 고딕"/>
                <a:ea typeface="맑은 고딕"/>
              </a:rPr>
              <a:t>현장점검 실무교육  10 / 13</a:t>
            </a:r>
          </a:p>
        </p:txBody>
      </p:sp>
      <p:sp>
        <p:nvSpPr>
          <p:cNvPr id="7" name="Rounded Rectangle 6"/>
          <p:cNvSpPr/>
          <p:nvPr/>
        </p:nvSpPr>
        <p:spPr>
          <a:xfrm>
            <a:off x="548640" y="1417320"/>
            <a:ext cx="6766560" cy="73152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417320"/>
            <a:ext cx="6583680" cy="731520"/>
          </a:xfrm>
          <a:prstGeom prst="rect">
            <a:avLst/>
          </a:prstGeom>
          <a:noFill/>
        </p:spPr>
        <p:txBody>
          <a:bodyPr wrap="square" anchor="ctr" lIns="45720" rIns="45720">
            <a:spAutoFit/>
          </a:bodyPr>
          <a:lstStyle/>
          <a:p>
            <a:pPr algn="l"/>
            <a:r>
              <a:rPr sz="2400" b="1">
                <a:solidFill>
                  <a:srgbClr val="1E293B"/>
                </a:solidFill>
                <a:latin typeface="맑은 고딕"/>
                <a:ea typeface="맑은 고딕"/>
              </a:rPr>
              <a:t>“이 장비는 어느 업체 건가요?”</a:t>
            </a:r>
          </a:p>
        </p:txBody>
      </p:sp>
      <p:sp>
        <p:nvSpPr>
          <p:cNvPr id="9" name="Rounded Rectangle 8"/>
          <p:cNvSpPr/>
          <p:nvPr/>
        </p:nvSpPr>
        <p:spPr>
          <a:xfrm>
            <a:off x="548640" y="2286000"/>
            <a:ext cx="6766560" cy="73152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286000"/>
            <a:ext cx="6583680" cy="731520"/>
          </a:xfrm>
          <a:prstGeom prst="rect">
            <a:avLst/>
          </a:prstGeom>
          <a:noFill/>
        </p:spPr>
        <p:txBody>
          <a:bodyPr wrap="square" anchor="ctr" lIns="45720" rIns="45720">
            <a:spAutoFit/>
          </a:bodyPr>
          <a:lstStyle/>
          <a:p>
            <a:pPr algn="l"/>
            <a:r>
              <a:rPr sz="2400" b="1">
                <a:solidFill>
                  <a:srgbClr val="1E293B"/>
                </a:solidFill>
                <a:latin typeface="맑은 고딕"/>
                <a:ea typeface="맑은 고딕"/>
              </a:rPr>
              <a:t>“수리는 어느 분이 맡으셨나요?”</a:t>
            </a:r>
          </a:p>
        </p:txBody>
      </p:sp>
      <p:sp>
        <p:nvSpPr>
          <p:cNvPr id="11" name="Rounded Rectangle 10"/>
          <p:cNvSpPr/>
          <p:nvPr/>
        </p:nvSpPr>
        <p:spPr>
          <a:xfrm>
            <a:off x="548640" y="3154680"/>
            <a:ext cx="6766560" cy="73152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154680"/>
            <a:ext cx="6583680" cy="731520"/>
          </a:xfrm>
          <a:prstGeom prst="rect">
            <a:avLst/>
          </a:prstGeom>
          <a:noFill/>
        </p:spPr>
        <p:txBody>
          <a:bodyPr wrap="square" anchor="ctr" lIns="45720" rIns="45720">
            <a:spAutoFit/>
          </a:bodyPr>
          <a:lstStyle/>
          <a:p>
            <a:pPr algn="l"/>
            <a:r>
              <a:rPr sz="2400" b="1">
                <a:solidFill>
                  <a:srgbClr val="1E293B"/>
                </a:solidFill>
                <a:latin typeface="맑은 고딕"/>
                <a:ea typeface="맑은 고딕"/>
              </a:rPr>
              <a:t>“수리비는 어디로 받으시나요?”</a:t>
            </a:r>
          </a:p>
        </p:txBody>
      </p:sp>
      <p:sp>
        <p:nvSpPr>
          <p:cNvPr id="13" name="Rounded Rectangle 12"/>
          <p:cNvSpPr/>
          <p:nvPr/>
        </p:nvSpPr>
        <p:spPr>
          <a:xfrm>
            <a:off x="7680960" y="1417320"/>
            <a:ext cx="3931920" cy="2468880"/>
          </a:xfrm>
          <a:prstGeom prst="roundRect">
            <a:avLst>
              <a:gd name="adj" fmla="val 12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49039" cy="2468880"/>
          </a:xfrm>
          <a:prstGeom prst="rect">
            <a:avLst/>
          </a:prstGeom>
          <a:noFill/>
        </p:spPr>
        <p:txBody>
          <a:bodyPr wrap="square" anchor="ctr" lIns="45720" rIns="45720">
            <a:spAutoFit/>
          </a:bodyPr>
          <a:lstStyle/>
          <a:p>
            <a:pPr algn="ctr"/>
            <a:r>
              <a:rPr sz="2600" b="1">
                <a:solidFill>
                  <a:srgbClr val="1E293B"/>
                </a:solidFill>
                <a:latin typeface="맑은 고딕"/>
                <a:ea typeface="맑은 고딕"/>
              </a:rPr>
              <a:t>거부하면</a:t>
            </a:r>
          </a:p>
          <a:p>
            <a:pPr algn="ctr"/>
            <a:r>
              <a:rPr sz="2600" b="1">
                <a:solidFill>
                  <a:srgbClr val="1E293B"/>
                </a:solidFill>
                <a:latin typeface="맑은 고딕"/>
                <a:ea typeface="맑은 고딕"/>
              </a:rPr>
              <a:t/>
            </a:r>
          </a:p>
          <a:p>
            <a:pPr algn="ctr"/>
            <a:r>
              <a:rPr sz="2600" b="1">
                <a:solidFill>
                  <a:srgbClr val="1E293B"/>
                </a:solidFill>
                <a:latin typeface="맑은 고딕"/>
                <a:ea typeface="맑은 고딕"/>
              </a:rPr>
              <a:t>'거부 사실'만</a:t>
            </a:r>
          </a:p>
          <a:p>
            <a:pPr algn="ctr"/>
            <a:r>
              <a:rPr sz="2600" b="1">
                <a:solidFill>
                  <a:srgbClr val="1E293B"/>
                </a:solidFill>
                <a:latin typeface="맑은 고딕"/>
                <a:ea typeface="맑은 고딕"/>
              </a:rPr>
              <a:t>기록</a:t>
            </a:r>
          </a:p>
        </p:txBody>
      </p:sp>
      <p:sp>
        <p:nvSpPr>
          <p:cNvPr id="15" name="Rounded Rectangle 14"/>
          <p:cNvSpPr/>
          <p:nvPr/>
        </p:nvSpPr>
        <p:spPr>
          <a:xfrm>
            <a:off x="548640" y="4114800"/>
            <a:ext cx="11064240" cy="822960"/>
          </a:xfrm>
          <a:prstGeom prst="roundRect">
            <a:avLst>
              <a:gd name="adj" fmla="val 12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114800"/>
            <a:ext cx="10881360" cy="822960"/>
          </a:xfrm>
          <a:prstGeom prst="rect">
            <a:avLst/>
          </a:prstGeom>
          <a:noFill/>
        </p:spPr>
        <p:txBody>
          <a:bodyPr wrap="square" anchor="ctr" lIns="45720" rIns="45720">
            <a:spAutoFit/>
          </a:bodyPr>
          <a:lstStyle/>
          <a:p>
            <a:pPr algn="ctr"/>
            <a:r>
              <a:rPr sz="2400" b="1">
                <a:solidFill>
                  <a:srgbClr val="C0392B"/>
                </a:solidFill>
                <a:latin typeface="맑은 고딕"/>
                <a:ea typeface="맑은 고딕"/>
              </a:rPr>
              <a:t>✕ 추가 요구    ✕ 작업 중지 요구    ✕ 확인서 서명 강요</a:t>
            </a:r>
          </a:p>
        </p:txBody>
      </p:sp>
      <p:sp>
        <p:nvSpPr>
          <p:cNvPr id="17" name="TextBox 16"/>
          <p:cNvSpPr txBox="1"/>
          <p:nvPr/>
        </p:nvSpPr>
        <p:spPr>
          <a:xfrm>
            <a:off x="548640" y="5138928"/>
            <a:ext cx="11064240" cy="384048"/>
          </a:xfrm>
          <a:prstGeom prst="rect">
            <a:avLst/>
          </a:prstGeom>
          <a:noFill/>
        </p:spPr>
        <p:txBody>
          <a:bodyPr wrap="square" anchor="t" lIns="45720" rIns="45720">
            <a:spAutoFit/>
          </a:bodyPr>
          <a:lstStyle/>
          <a:p>
            <a:pPr algn="l"/>
            <a:r>
              <a:rPr sz="1500" b="0">
                <a:solidFill>
                  <a:srgbClr val="5F6B7A"/>
                </a:solidFill>
                <a:latin typeface="맑은 고딕"/>
                <a:ea typeface="맑은 고딕"/>
              </a:rPr>
              <a:t>「건설기계관리법 시행규칙」 제89조(협회의 업무)</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457200" y="219456"/>
            <a:ext cx="713232" cy="713232"/>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219456"/>
            <a:ext cx="713232" cy="713232"/>
          </a:xfrm>
          <a:prstGeom prst="rect">
            <a:avLst/>
          </a:prstGeom>
          <a:noFill/>
        </p:spPr>
        <p:txBody>
          <a:bodyPr wrap="square" anchor="ctr" lIns="45720" rIns="45720">
            <a:spAutoFit/>
          </a:bodyPr>
          <a:lstStyle/>
          <a:p>
            <a:pPr algn="ctr"/>
            <a:r>
              <a:rPr sz="2800" b="1">
                <a:solidFill>
                  <a:srgbClr val="FFFFFF"/>
                </a:solidFill>
                <a:latin typeface="맑은 고딕"/>
                <a:ea typeface="맑은 고딕"/>
              </a:rPr>
              <a:t>⑧</a:t>
            </a:r>
          </a:p>
        </p:txBody>
      </p:sp>
      <p:sp>
        <p:nvSpPr>
          <p:cNvPr id="5" name="TextBox 4"/>
          <p:cNvSpPr txBox="1"/>
          <p:nvPr/>
        </p:nvSpPr>
        <p:spPr>
          <a:xfrm>
            <a:off x="1371600" y="182880"/>
            <a:ext cx="8778240" cy="786384"/>
          </a:xfrm>
          <a:prstGeom prst="rect">
            <a:avLst/>
          </a:prstGeom>
          <a:noFill/>
        </p:spPr>
        <p:txBody>
          <a:bodyPr wrap="square" anchor="ctr" lIns="45720" rIns="45720">
            <a:spAutoFit/>
          </a:bodyPr>
          <a:lstStyle/>
          <a:p>
            <a:pPr algn="l"/>
            <a:r>
              <a:rPr sz="3600" b="1">
                <a:solidFill>
                  <a:srgbClr val="FFFFFF"/>
                </a:solidFill>
                <a:latin typeface="맑은 고딕"/>
                <a:ea typeface="맑은 고딕"/>
              </a:rPr>
              <a:t>관할 기관 전달</a:t>
            </a:r>
          </a:p>
        </p:txBody>
      </p:sp>
      <p:sp>
        <p:nvSpPr>
          <p:cNvPr id="6" name="TextBox 5"/>
          <p:cNvSpPr txBox="1"/>
          <p:nvPr/>
        </p:nvSpPr>
        <p:spPr>
          <a:xfrm>
            <a:off x="9418320" y="320040"/>
            <a:ext cx="2468880" cy="502920"/>
          </a:xfrm>
          <a:prstGeom prst="rect">
            <a:avLst/>
          </a:prstGeom>
          <a:noFill/>
        </p:spPr>
        <p:txBody>
          <a:bodyPr wrap="square" anchor="ctr" lIns="45720" rIns="45720">
            <a:spAutoFit/>
          </a:bodyPr>
          <a:lstStyle/>
          <a:p>
            <a:pPr algn="r"/>
            <a:r>
              <a:rPr sz="1400" b="0">
                <a:solidFill>
                  <a:srgbClr val="C8D6E5"/>
                </a:solidFill>
                <a:latin typeface="맑은 고딕"/>
                <a:ea typeface="맑은 고딕"/>
              </a:rPr>
              <a:t>현장점검 실무교육  11 / 13</a:t>
            </a:r>
          </a:p>
        </p:txBody>
      </p:sp>
      <p:sp>
        <p:nvSpPr>
          <p:cNvPr id="7" name="Rounded Rectangle 6"/>
          <p:cNvSpPr/>
          <p:nvPr/>
        </p:nvSpPr>
        <p:spPr>
          <a:xfrm>
            <a:off x="548640" y="1508760"/>
            <a:ext cx="2377440" cy="14630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508760"/>
            <a:ext cx="2194560" cy="1463040"/>
          </a:xfrm>
          <a:prstGeom prst="rect">
            <a:avLst/>
          </a:prstGeom>
          <a:noFill/>
        </p:spPr>
        <p:txBody>
          <a:bodyPr wrap="square" anchor="ctr" lIns="45720" rIns="45720">
            <a:spAutoFit/>
          </a:bodyPr>
          <a:lstStyle/>
          <a:p>
            <a:pPr algn="ctr"/>
            <a:r>
              <a:rPr sz="2200" b="1">
                <a:solidFill>
                  <a:srgbClr val="1E293B"/>
                </a:solidFill>
                <a:latin typeface="맑은 고딕"/>
                <a:ea typeface="맑은 고딕"/>
              </a:rPr>
              <a:t>현장 확인</a:t>
            </a:r>
          </a:p>
          <a:p>
            <a:pPr algn="ctr"/>
            <a:r>
              <a:rPr sz="2200" b="1">
                <a:solidFill>
                  <a:srgbClr val="1E293B"/>
                </a:solidFill>
                <a:latin typeface="맑은 고딕"/>
                <a:ea typeface="맑은 고딕"/>
              </a:rPr>
              <a:t>(협회)</a:t>
            </a:r>
          </a:p>
        </p:txBody>
      </p:sp>
      <p:sp>
        <p:nvSpPr>
          <p:cNvPr id="9" name="Right Arrow 8"/>
          <p:cNvSpPr/>
          <p:nvPr/>
        </p:nvSpPr>
        <p:spPr>
          <a:xfrm>
            <a:off x="2990088" y="2057400"/>
            <a:ext cx="384048" cy="384048"/>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29000" y="1508760"/>
            <a:ext cx="2377440" cy="14630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20440" y="1508760"/>
            <a:ext cx="2194560" cy="1463040"/>
          </a:xfrm>
          <a:prstGeom prst="rect">
            <a:avLst/>
          </a:prstGeom>
          <a:noFill/>
        </p:spPr>
        <p:txBody>
          <a:bodyPr wrap="square" anchor="ctr" lIns="45720" rIns="45720">
            <a:spAutoFit/>
          </a:bodyPr>
          <a:lstStyle/>
          <a:p>
            <a:pPr algn="ctr"/>
            <a:r>
              <a:rPr sz="2200" b="1">
                <a:solidFill>
                  <a:srgbClr val="1E293B"/>
                </a:solidFill>
                <a:latin typeface="맑은 고딕"/>
                <a:ea typeface="맑은 고딕"/>
              </a:rPr>
              <a:t>사실 정리</a:t>
            </a:r>
          </a:p>
        </p:txBody>
      </p:sp>
      <p:sp>
        <p:nvSpPr>
          <p:cNvPr id="12" name="Right Arrow 11"/>
          <p:cNvSpPr/>
          <p:nvPr/>
        </p:nvSpPr>
        <p:spPr>
          <a:xfrm>
            <a:off x="5870448" y="2057400"/>
            <a:ext cx="384048" cy="384048"/>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09359" y="1508760"/>
            <a:ext cx="2377440" cy="146304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799" y="1508760"/>
            <a:ext cx="2194560" cy="1463040"/>
          </a:xfrm>
          <a:prstGeom prst="rect">
            <a:avLst/>
          </a:prstGeom>
          <a:noFill/>
        </p:spPr>
        <p:txBody>
          <a:bodyPr wrap="square" anchor="ctr" lIns="45720" rIns="45720">
            <a:spAutoFit/>
          </a:bodyPr>
          <a:lstStyle/>
          <a:p>
            <a:pPr algn="ctr"/>
            <a:r>
              <a:rPr sz="2200" b="1">
                <a:solidFill>
                  <a:srgbClr val="1E293B"/>
                </a:solidFill>
                <a:latin typeface="맑은 고딕"/>
                <a:ea typeface="맑은 고딕"/>
              </a:rPr>
              <a:t>관할 시·군·구</a:t>
            </a:r>
          </a:p>
          <a:p>
            <a:pPr algn="ctr"/>
            <a:r>
              <a:rPr sz="2200" b="1">
                <a:solidFill>
                  <a:srgbClr val="1E293B"/>
                </a:solidFill>
                <a:latin typeface="맑은 고딕"/>
                <a:ea typeface="맑은 고딕"/>
              </a:rPr>
              <a:t>전달</a:t>
            </a:r>
          </a:p>
        </p:txBody>
      </p:sp>
      <p:sp>
        <p:nvSpPr>
          <p:cNvPr id="15" name="Right Arrow 14"/>
          <p:cNvSpPr/>
          <p:nvPr/>
        </p:nvSpPr>
        <p:spPr>
          <a:xfrm>
            <a:off x="8750808" y="2057400"/>
            <a:ext cx="384048" cy="384048"/>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189719" y="1508760"/>
            <a:ext cx="2377440" cy="1463040"/>
          </a:xfrm>
          <a:prstGeom prst="roundRect">
            <a:avLst>
              <a:gd name="adj" fmla="val 12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81159" y="1508760"/>
            <a:ext cx="2194560" cy="1463040"/>
          </a:xfrm>
          <a:prstGeom prst="rect">
            <a:avLst/>
          </a:prstGeom>
          <a:noFill/>
        </p:spPr>
        <p:txBody>
          <a:bodyPr wrap="square" anchor="ctr" lIns="45720" rIns="45720">
            <a:spAutoFit/>
          </a:bodyPr>
          <a:lstStyle/>
          <a:p>
            <a:pPr algn="ctr"/>
            <a:r>
              <a:rPr sz="2200" b="1">
                <a:solidFill>
                  <a:srgbClr val="FFFFFF"/>
                </a:solidFill>
                <a:latin typeface="맑은 고딕"/>
                <a:ea typeface="맑은 고딕"/>
              </a:rPr>
              <a:t>조사·처분</a:t>
            </a:r>
          </a:p>
          <a:p>
            <a:pPr algn="ctr"/>
            <a:r>
              <a:rPr sz="2200" b="1">
                <a:solidFill>
                  <a:srgbClr val="FFFFFF"/>
                </a:solidFill>
                <a:latin typeface="맑은 고딕"/>
                <a:ea typeface="맑은 고딕"/>
              </a:rPr>
              <a:t>판단(행정기관)</a:t>
            </a:r>
          </a:p>
        </p:txBody>
      </p:sp>
      <p:sp>
        <p:nvSpPr>
          <p:cNvPr id="18" name="Rounded Rectangle 17"/>
          <p:cNvSpPr/>
          <p:nvPr/>
        </p:nvSpPr>
        <p:spPr>
          <a:xfrm>
            <a:off x="548640" y="3246120"/>
            <a:ext cx="11064240" cy="777240"/>
          </a:xfrm>
          <a:prstGeom prst="roundRect">
            <a:avLst>
              <a:gd name="adj" fmla="val 12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246120"/>
            <a:ext cx="10881360" cy="777240"/>
          </a:xfrm>
          <a:prstGeom prst="rect">
            <a:avLst/>
          </a:prstGeom>
          <a:noFill/>
        </p:spPr>
        <p:txBody>
          <a:bodyPr wrap="square" anchor="ctr" lIns="45720" rIns="45720">
            <a:spAutoFit/>
          </a:bodyPr>
          <a:lstStyle/>
          <a:p>
            <a:pPr algn="ctr"/>
            <a:r>
              <a:rPr sz="2600" b="1">
                <a:solidFill>
                  <a:srgbClr val="1E293B"/>
                </a:solidFill>
                <a:latin typeface="맑은 고딕"/>
                <a:ea typeface="맑은 고딕"/>
              </a:rPr>
              <a:t>출입 · 검사 · 질문 권한: 행정기관 소속 공무원</a:t>
            </a:r>
          </a:p>
        </p:txBody>
      </p:sp>
      <p:sp>
        <p:nvSpPr>
          <p:cNvPr id="20" name="Rounded Rectangle 19"/>
          <p:cNvSpPr/>
          <p:nvPr/>
        </p:nvSpPr>
        <p:spPr>
          <a:xfrm>
            <a:off x="548640" y="4206240"/>
            <a:ext cx="11064240" cy="731520"/>
          </a:xfrm>
          <a:prstGeom prst="roundRect">
            <a:avLst>
              <a:gd name="adj" fmla="val 12000"/>
            </a:avLst>
          </a:prstGeom>
          <a:solidFill>
            <a:srgbClr val="EEF3F8"/>
          </a:solidFill>
          <a:ln w="2540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4206240"/>
            <a:ext cx="10881360" cy="731520"/>
          </a:xfrm>
          <a:prstGeom prst="rect">
            <a:avLst/>
          </a:prstGeom>
          <a:noFill/>
        </p:spPr>
        <p:txBody>
          <a:bodyPr wrap="square" anchor="ctr" lIns="45720" rIns="45720">
            <a:spAutoFit/>
          </a:bodyPr>
          <a:lstStyle/>
          <a:p>
            <a:pPr algn="ctr"/>
            <a:r>
              <a:rPr sz="2200" b="1">
                <a:solidFill>
                  <a:srgbClr val="1F3A5F"/>
                </a:solidFill>
                <a:latin typeface="맑은 고딕"/>
                <a:ea typeface="맑은 고딕"/>
              </a:rPr>
              <a:t>현장에서 위반 단정 ✕   처벌 언급 ✕   등록 문의 → 관할 기관 안내</a:t>
            </a:r>
          </a:p>
        </p:txBody>
      </p:sp>
      <p:sp>
        <p:nvSpPr>
          <p:cNvPr id="22" name="TextBox 21"/>
          <p:cNvSpPr txBox="1"/>
          <p:nvPr/>
        </p:nvSpPr>
        <p:spPr>
          <a:xfrm>
            <a:off x="548640" y="5138928"/>
            <a:ext cx="11064240" cy="384048"/>
          </a:xfrm>
          <a:prstGeom prst="rect">
            <a:avLst/>
          </a:prstGeom>
          <a:noFill/>
        </p:spPr>
        <p:txBody>
          <a:bodyPr wrap="square" anchor="t" lIns="45720" rIns="45720">
            <a:spAutoFit/>
          </a:bodyPr>
          <a:lstStyle/>
          <a:p>
            <a:pPr algn="l"/>
            <a:r>
              <a:rPr sz="1500" b="0">
                <a:solidFill>
                  <a:srgbClr val="5F6B7A"/>
                </a:solidFill>
                <a:latin typeface="맑은 고딕"/>
                <a:ea typeface="맑은 고딕"/>
              </a:rPr>
              <a:t>「건설기계관리법」 제35조제1항 · 「시행령」 제18조의3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8778240" cy="786384"/>
          </a:xfrm>
          <a:prstGeom prst="rect">
            <a:avLst/>
          </a:prstGeom>
          <a:noFill/>
        </p:spPr>
        <p:txBody>
          <a:bodyPr wrap="square" anchor="ctr" lIns="45720" rIns="45720">
            <a:spAutoFit/>
          </a:bodyPr>
          <a:lstStyle/>
          <a:p>
            <a:pPr algn="l"/>
            <a:r>
              <a:rPr sz="3600" b="1">
                <a:solidFill>
                  <a:srgbClr val="FFFFFF"/>
                </a:solidFill>
                <a:latin typeface="맑은 고딕"/>
                <a:ea typeface="맑은 고딕"/>
              </a:rPr>
              <a:t>사례 판단 연습</a:t>
            </a:r>
          </a:p>
        </p:txBody>
      </p:sp>
      <p:sp>
        <p:nvSpPr>
          <p:cNvPr id="4" name="TextBox 3"/>
          <p:cNvSpPr txBox="1"/>
          <p:nvPr/>
        </p:nvSpPr>
        <p:spPr>
          <a:xfrm>
            <a:off x="9418320" y="320040"/>
            <a:ext cx="2468880" cy="502920"/>
          </a:xfrm>
          <a:prstGeom prst="rect">
            <a:avLst/>
          </a:prstGeom>
          <a:noFill/>
        </p:spPr>
        <p:txBody>
          <a:bodyPr wrap="square" anchor="ctr" lIns="45720" rIns="45720">
            <a:spAutoFit/>
          </a:bodyPr>
          <a:lstStyle/>
          <a:p>
            <a:pPr algn="r"/>
            <a:r>
              <a:rPr sz="1400" b="0">
                <a:solidFill>
                  <a:srgbClr val="C8D6E5"/>
                </a:solidFill>
                <a:latin typeface="맑은 고딕"/>
                <a:ea typeface="맑은 고딕"/>
              </a:rPr>
              <a:t>현장점검 실무교육  12 / 13</a:t>
            </a:r>
          </a:p>
        </p:txBody>
      </p:sp>
      <p:sp>
        <p:nvSpPr>
          <p:cNvPr id="5" name="Rounded Rectangle 4"/>
          <p:cNvSpPr/>
          <p:nvPr/>
        </p:nvSpPr>
        <p:spPr>
          <a:xfrm>
            <a:off x="548640" y="1417320"/>
            <a:ext cx="3566160" cy="594360"/>
          </a:xfrm>
          <a:prstGeom prst="roundRect">
            <a:avLst>
              <a:gd name="adj" fmla="val 12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3383279" cy="594360"/>
          </a:xfrm>
          <a:prstGeom prst="rect">
            <a:avLst/>
          </a:prstGeom>
          <a:noFill/>
        </p:spPr>
        <p:txBody>
          <a:bodyPr wrap="square" anchor="ctr" lIns="45720" rIns="45720">
            <a:spAutoFit/>
          </a:bodyPr>
          <a:lstStyle/>
          <a:p>
            <a:pPr algn="ctr"/>
            <a:r>
              <a:rPr sz="2400" b="1">
                <a:solidFill>
                  <a:srgbClr val="FFFFFF"/>
                </a:solidFill>
                <a:latin typeface="맑은 고딕"/>
                <a:ea typeface="맑은 고딕"/>
              </a:rPr>
              <a:t>상황 1</a:t>
            </a:r>
          </a:p>
        </p:txBody>
      </p:sp>
      <p:sp>
        <p:nvSpPr>
          <p:cNvPr id="7" name="Rounded Rectangle 6"/>
          <p:cNvSpPr/>
          <p:nvPr/>
        </p:nvSpPr>
        <p:spPr>
          <a:xfrm>
            <a:off x="548640" y="2103120"/>
            <a:ext cx="3566160" cy="13258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103120"/>
            <a:ext cx="3383279" cy="1325880"/>
          </a:xfrm>
          <a:prstGeom prst="rect">
            <a:avLst/>
          </a:prstGeom>
          <a:noFill/>
        </p:spPr>
        <p:txBody>
          <a:bodyPr wrap="square" anchor="ctr" lIns="45720" rIns="45720">
            <a:spAutoFit/>
          </a:bodyPr>
          <a:lstStyle/>
          <a:p>
            <a:pPr algn="ctr"/>
            <a:r>
              <a:rPr sz="2100" b="1">
                <a:solidFill>
                  <a:srgbClr val="1E293B"/>
                </a:solidFill>
                <a:latin typeface="맑은 고딕"/>
                <a:ea typeface="맑은 고딕"/>
              </a:rPr>
              <a:t>부품 판매 + 필터만 교환</a:t>
            </a:r>
          </a:p>
        </p:txBody>
      </p:sp>
      <p:sp>
        <p:nvSpPr>
          <p:cNvPr id="9" name="Rounded Rectangle 8"/>
          <p:cNvSpPr/>
          <p:nvPr/>
        </p:nvSpPr>
        <p:spPr>
          <a:xfrm>
            <a:off x="548640" y="3566160"/>
            <a:ext cx="3566160" cy="1325880"/>
          </a:xfrm>
          <a:prstGeom prst="roundRect">
            <a:avLst>
              <a:gd name="adj" fmla="val 12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566160"/>
            <a:ext cx="3383279" cy="1325880"/>
          </a:xfrm>
          <a:prstGeom prst="rect">
            <a:avLst/>
          </a:prstGeom>
          <a:noFill/>
        </p:spPr>
        <p:txBody>
          <a:bodyPr wrap="square" anchor="ctr" lIns="45720" rIns="45720">
            <a:spAutoFit/>
          </a:bodyPr>
          <a:lstStyle/>
          <a:p>
            <a:pPr algn="ctr"/>
            <a:r>
              <a:rPr sz="2200" b="1">
                <a:solidFill>
                  <a:srgbClr val="1E293B"/>
                </a:solidFill>
                <a:latin typeface="맑은 고딕"/>
                <a:ea typeface="맑은 고딕"/>
              </a:rPr>
              <a:t>→ 정비업 범위에서</a:t>
            </a:r>
          </a:p>
          <a:p>
            <a:pPr algn="ctr"/>
            <a:r>
              <a:rPr sz="2200" b="1">
                <a:solidFill>
                  <a:srgbClr val="1E293B"/>
                </a:solidFill>
                <a:latin typeface="맑은 고딕"/>
                <a:ea typeface="맑은 고딕"/>
              </a:rPr>
              <a:t>제외되는 작업</a:t>
            </a:r>
          </a:p>
        </p:txBody>
      </p:sp>
      <p:sp>
        <p:nvSpPr>
          <p:cNvPr id="11" name="Rounded Rectangle 10"/>
          <p:cNvSpPr/>
          <p:nvPr/>
        </p:nvSpPr>
        <p:spPr>
          <a:xfrm>
            <a:off x="4297679" y="1417320"/>
            <a:ext cx="3566160" cy="594360"/>
          </a:xfrm>
          <a:prstGeom prst="roundRect">
            <a:avLst>
              <a:gd name="adj" fmla="val 12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19" y="1417320"/>
            <a:ext cx="3383279" cy="594360"/>
          </a:xfrm>
          <a:prstGeom prst="rect">
            <a:avLst/>
          </a:prstGeom>
          <a:noFill/>
        </p:spPr>
        <p:txBody>
          <a:bodyPr wrap="square" anchor="ctr" lIns="45720" rIns="45720">
            <a:spAutoFit/>
          </a:bodyPr>
          <a:lstStyle/>
          <a:p>
            <a:pPr algn="ctr"/>
            <a:r>
              <a:rPr sz="2400" b="1">
                <a:solidFill>
                  <a:srgbClr val="FFFFFF"/>
                </a:solidFill>
                <a:latin typeface="맑은 고딕"/>
                <a:ea typeface="맑은 고딕"/>
              </a:rPr>
              <a:t>상황 2</a:t>
            </a:r>
          </a:p>
        </p:txBody>
      </p:sp>
      <p:sp>
        <p:nvSpPr>
          <p:cNvPr id="13" name="Rounded Rectangle 12"/>
          <p:cNvSpPr/>
          <p:nvPr/>
        </p:nvSpPr>
        <p:spPr>
          <a:xfrm>
            <a:off x="4297679" y="2103120"/>
            <a:ext cx="3566160" cy="13258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389119" y="2103120"/>
            <a:ext cx="3383279" cy="1325880"/>
          </a:xfrm>
          <a:prstGeom prst="rect">
            <a:avLst/>
          </a:prstGeom>
          <a:noFill/>
        </p:spPr>
        <p:txBody>
          <a:bodyPr wrap="square" anchor="ctr" lIns="45720" rIns="45720">
            <a:spAutoFit/>
          </a:bodyPr>
          <a:lstStyle/>
          <a:p>
            <a:pPr algn="ctr"/>
            <a:r>
              <a:rPr sz="2100" b="1">
                <a:solidFill>
                  <a:srgbClr val="1E293B"/>
                </a:solidFill>
                <a:latin typeface="맑은 고딕"/>
                <a:ea typeface="맑은 고딕"/>
              </a:rPr>
              <a:t>공간 임차인이 유압펌프 분해,</a:t>
            </a:r>
          </a:p>
          <a:p>
            <a:pPr algn="ctr"/>
            <a:r>
              <a:rPr sz="2100" b="1">
                <a:solidFill>
                  <a:srgbClr val="1E293B"/>
                </a:solidFill>
                <a:latin typeface="맑은 고딕"/>
                <a:ea typeface="맑은 고딕"/>
              </a:rPr>
              <a:t>수리비 별도 수령</a:t>
            </a:r>
          </a:p>
        </p:txBody>
      </p:sp>
      <p:sp>
        <p:nvSpPr>
          <p:cNvPr id="15" name="Rounded Rectangle 14"/>
          <p:cNvSpPr/>
          <p:nvPr/>
        </p:nvSpPr>
        <p:spPr>
          <a:xfrm>
            <a:off x="4297679" y="3566160"/>
            <a:ext cx="3566160" cy="1325880"/>
          </a:xfrm>
          <a:prstGeom prst="roundRect">
            <a:avLst>
              <a:gd name="adj" fmla="val 12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19" y="3566160"/>
            <a:ext cx="3383279" cy="1325880"/>
          </a:xfrm>
          <a:prstGeom prst="rect">
            <a:avLst/>
          </a:prstGeom>
          <a:noFill/>
        </p:spPr>
        <p:txBody>
          <a:bodyPr wrap="square" anchor="ctr" lIns="45720" rIns="45720">
            <a:spAutoFit/>
          </a:bodyPr>
          <a:lstStyle/>
          <a:p>
            <a:pPr algn="ctr"/>
            <a:r>
              <a:rPr sz="2200" b="1">
                <a:solidFill>
                  <a:srgbClr val="1E293B"/>
                </a:solidFill>
                <a:latin typeface="맑은 고딕"/>
                <a:ea typeface="맑은 고딕"/>
              </a:rPr>
              <a:t>→ 등록 대조 후</a:t>
            </a:r>
          </a:p>
          <a:p>
            <a:pPr algn="ctr"/>
            <a:r>
              <a:rPr sz="2200" b="1">
                <a:solidFill>
                  <a:srgbClr val="1E293B"/>
                </a:solidFill>
                <a:latin typeface="맑은 고딕"/>
                <a:ea typeface="맑은 고딕"/>
              </a:rPr>
              <a:t>관할 기관 전달</a:t>
            </a:r>
          </a:p>
        </p:txBody>
      </p:sp>
      <p:sp>
        <p:nvSpPr>
          <p:cNvPr id="17" name="Rounded Rectangle 16"/>
          <p:cNvSpPr/>
          <p:nvPr/>
        </p:nvSpPr>
        <p:spPr>
          <a:xfrm>
            <a:off x="8046719" y="1417320"/>
            <a:ext cx="3566160" cy="594360"/>
          </a:xfrm>
          <a:prstGeom prst="roundRect">
            <a:avLst>
              <a:gd name="adj" fmla="val 12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138159" y="1417320"/>
            <a:ext cx="3383279" cy="594360"/>
          </a:xfrm>
          <a:prstGeom prst="rect">
            <a:avLst/>
          </a:prstGeom>
          <a:noFill/>
        </p:spPr>
        <p:txBody>
          <a:bodyPr wrap="square" anchor="ctr" lIns="45720" rIns="45720">
            <a:spAutoFit/>
          </a:bodyPr>
          <a:lstStyle/>
          <a:p>
            <a:pPr algn="ctr"/>
            <a:r>
              <a:rPr sz="2400" b="1">
                <a:solidFill>
                  <a:srgbClr val="FFFFFF"/>
                </a:solidFill>
                <a:latin typeface="맑은 고딕"/>
                <a:ea typeface="맑은 고딕"/>
              </a:rPr>
              <a:t>상황 3</a:t>
            </a:r>
          </a:p>
        </p:txBody>
      </p:sp>
      <p:sp>
        <p:nvSpPr>
          <p:cNvPr id="19" name="Rounded Rectangle 18"/>
          <p:cNvSpPr/>
          <p:nvPr/>
        </p:nvSpPr>
        <p:spPr>
          <a:xfrm>
            <a:off x="8046719" y="2103120"/>
            <a:ext cx="3566160" cy="132588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38159" y="2103120"/>
            <a:ext cx="3383279" cy="1325880"/>
          </a:xfrm>
          <a:prstGeom prst="rect">
            <a:avLst/>
          </a:prstGeom>
          <a:noFill/>
        </p:spPr>
        <p:txBody>
          <a:bodyPr wrap="square" anchor="ctr" lIns="45720" rIns="45720">
            <a:spAutoFit/>
          </a:bodyPr>
          <a:lstStyle/>
          <a:p>
            <a:pPr algn="ctr"/>
            <a:r>
              <a:rPr sz="2100" b="1">
                <a:solidFill>
                  <a:srgbClr val="1E293B"/>
                </a:solidFill>
                <a:latin typeface="맑은 고딕"/>
                <a:ea typeface="맑은 고딕"/>
              </a:rPr>
              <a:t>공장 안에서만 쓰는</a:t>
            </a:r>
          </a:p>
          <a:p>
            <a:pPr algn="ctr"/>
            <a:r>
              <a:rPr sz="2100" b="1">
                <a:solidFill>
                  <a:srgbClr val="1E293B"/>
                </a:solidFill>
                <a:latin typeface="맑은 고딕"/>
                <a:ea typeface="맑은 고딕"/>
              </a:rPr>
              <a:t>전동 솔리드타이어 지게차</a:t>
            </a:r>
          </a:p>
        </p:txBody>
      </p:sp>
      <p:sp>
        <p:nvSpPr>
          <p:cNvPr id="21" name="Rounded Rectangle 20"/>
          <p:cNvSpPr/>
          <p:nvPr/>
        </p:nvSpPr>
        <p:spPr>
          <a:xfrm>
            <a:off x="8046719" y="3566160"/>
            <a:ext cx="3566160" cy="1325880"/>
          </a:xfrm>
          <a:prstGeom prst="roundRect">
            <a:avLst>
              <a:gd name="adj" fmla="val 12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38159" y="3566160"/>
            <a:ext cx="3383279" cy="1325880"/>
          </a:xfrm>
          <a:prstGeom prst="rect">
            <a:avLst/>
          </a:prstGeom>
          <a:noFill/>
        </p:spPr>
        <p:txBody>
          <a:bodyPr wrap="square" anchor="ctr" lIns="45720" rIns="45720">
            <a:spAutoFit/>
          </a:bodyPr>
          <a:lstStyle/>
          <a:p>
            <a:pPr algn="ctr"/>
            <a:r>
              <a:rPr sz="2200" b="1">
                <a:solidFill>
                  <a:srgbClr val="1E293B"/>
                </a:solidFill>
                <a:latin typeface="맑은 고딕"/>
                <a:ea typeface="맑은 고딕"/>
              </a:rPr>
              <a:t>→ 건설기계 해당</a:t>
            </a:r>
          </a:p>
          <a:p>
            <a:pPr algn="ctr"/>
            <a:r>
              <a:rPr sz="2200" b="1">
                <a:solidFill>
                  <a:srgbClr val="1E293B"/>
                </a:solidFill>
                <a:latin typeface="맑은 고딕"/>
                <a:ea typeface="맑은 고딕"/>
              </a:rPr>
              <a:t>여부부터 확인</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430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182880"/>
            <a:ext cx="8778240" cy="786384"/>
          </a:xfrm>
          <a:prstGeom prst="rect">
            <a:avLst/>
          </a:prstGeom>
          <a:noFill/>
        </p:spPr>
        <p:txBody>
          <a:bodyPr wrap="square" anchor="ctr" lIns="45720" rIns="45720">
            <a:spAutoFit/>
          </a:bodyPr>
          <a:lstStyle/>
          <a:p>
            <a:pPr algn="l"/>
            <a:r>
              <a:rPr sz="3600" b="1">
                <a:solidFill>
                  <a:srgbClr val="FFFFFF"/>
                </a:solidFill>
                <a:latin typeface="맑은 고딕"/>
                <a:ea typeface="맑은 고딕"/>
              </a:rPr>
              <a:t>복습과 정리</a:t>
            </a:r>
          </a:p>
        </p:txBody>
      </p:sp>
      <p:sp>
        <p:nvSpPr>
          <p:cNvPr id="4" name="TextBox 3"/>
          <p:cNvSpPr txBox="1"/>
          <p:nvPr/>
        </p:nvSpPr>
        <p:spPr>
          <a:xfrm>
            <a:off x="9418320" y="320040"/>
            <a:ext cx="2468880" cy="502920"/>
          </a:xfrm>
          <a:prstGeom prst="rect">
            <a:avLst/>
          </a:prstGeom>
          <a:noFill/>
        </p:spPr>
        <p:txBody>
          <a:bodyPr wrap="square" anchor="ctr" lIns="45720" rIns="45720">
            <a:spAutoFit/>
          </a:bodyPr>
          <a:lstStyle/>
          <a:p>
            <a:pPr algn="r"/>
            <a:r>
              <a:rPr sz="1400" b="0">
                <a:solidFill>
                  <a:srgbClr val="C8D6E5"/>
                </a:solidFill>
                <a:latin typeface="맑은 고딕"/>
                <a:ea typeface="맑은 고딕"/>
              </a:rPr>
              <a:t>현장점검 실무교육  13 / 13</a:t>
            </a:r>
          </a:p>
        </p:txBody>
      </p:sp>
      <p:sp>
        <p:nvSpPr>
          <p:cNvPr id="5" name="Rounded Rectangle 4"/>
          <p:cNvSpPr/>
          <p:nvPr/>
        </p:nvSpPr>
        <p:spPr>
          <a:xfrm>
            <a:off x="548640" y="1417320"/>
            <a:ext cx="8778240" cy="68580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8595360" cy="685800"/>
          </a:xfrm>
          <a:prstGeom prst="rect">
            <a:avLst/>
          </a:prstGeom>
          <a:noFill/>
        </p:spPr>
        <p:txBody>
          <a:bodyPr wrap="square" anchor="ctr" lIns="45720" rIns="45720">
            <a:spAutoFit/>
          </a:bodyPr>
          <a:lstStyle/>
          <a:p>
            <a:pPr algn="l"/>
            <a:r>
              <a:rPr sz="2400" b="1">
                <a:solidFill>
                  <a:srgbClr val="1E293B"/>
                </a:solidFill>
                <a:latin typeface="맑은 고딕"/>
                <a:ea typeface="맑은 고딕"/>
              </a:rPr>
              <a:t>표지가 없으면 무등록일까요?</a:t>
            </a:r>
          </a:p>
        </p:txBody>
      </p:sp>
      <p:sp>
        <p:nvSpPr>
          <p:cNvPr id="7" name="Rounded Rectangle 6"/>
          <p:cNvSpPr/>
          <p:nvPr/>
        </p:nvSpPr>
        <p:spPr>
          <a:xfrm>
            <a:off x="9509760" y="1417320"/>
            <a:ext cx="2103120" cy="685800"/>
          </a:xfrm>
          <a:prstGeom prst="roundRect">
            <a:avLst>
              <a:gd name="adj" fmla="val 12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0" y="1417320"/>
            <a:ext cx="1920239" cy="685800"/>
          </a:xfrm>
          <a:prstGeom prst="rect">
            <a:avLst/>
          </a:prstGeom>
          <a:noFill/>
        </p:spPr>
        <p:txBody>
          <a:bodyPr wrap="square" anchor="ctr" lIns="45720" rIns="45720">
            <a:spAutoFit/>
          </a:bodyPr>
          <a:lstStyle/>
          <a:p>
            <a:pPr algn="ctr"/>
            <a:r>
              <a:rPr sz="2600" b="1">
                <a:solidFill>
                  <a:srgbClr val="FFFFFF"/>
                </a:solidFill>
                <a:latin typeface="맑은 고딕"/>
                <a:ea typeface="맑은 고딕"/>
              </a:rPr>
              <a:t>아니요</a:t>
            </a:r>
          </a:p>
        </p:txBody>
      </p:sp>
      <p:sp>
        <p:nvSpPr>
          <p:cNvPr id="9" name="Rounded Rectangle 8"/>
          <p:cNvSpPr/>
          <p:nvPr/>
        </p:nvSpPr>
        <p:spPr>
          <a:xfrm>
            <a:off x="548640" y="2240280"/>
            <a:ext cx="8778240" cy="685800"/>
          </a:xfrm>
          <a:prstGeom prst="roundRect">
            <a:avLst>
              <a:gd name="adj" fmla="val 12000"/>
            </a:avLst>
          </a:prstGeom>
          <a:solidFill>
            <a:srgbClr val="EEF3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240280"/>
            <a:ext cx="8595360" cy="685800"/>
          </a:xfrm>
          <a:prstGeom prst="rect">
            <a:avLst/>
          </a:prstGeom>
          <a:noFill/>
        </p:spPr>
        <p:txBody>
          <a:bodyPr wrap="square" anchor="ctr" lIns="45720" rIns="45720">
            <a:spAutoFit/>
          </a:bodyPr>
          <a:lstStyle/>
          <a:p>
            <a:pPr algn="l"/>
            <a:r>
              <a:rPr sz="2400" b="1">
                <a:solidFill>
                  <a:srgbClr val="1E293B"/>
                </a:solidFill>
                <a:latin typeface="맑은 고딕"/>
                <a:ea typeface="맑은 고딕"/>
              </a:rPr>
              <a:t>사업자등록증이 있으면 정비업 등록도 된 걸까요?</a:t>
            </a:r>
          </a:p>
        </p:txBody>
      </p:sp>
      <p:sp>
        <p:nvSpPr>
          <p:cNvPr id="11" name="Rounded Rectangle 10"/>
          <p:cNvSpPr/>
          <p:nvPr/>
        </p:nvSpPr>
        <p:spPr>
          <a:xfrm>
            <a:off x="9509760" y="2240280"/>
            <a:ext cx="2103120" cy="685800"/>
          </a:xfrm>
          <a:prstGeom prst="roundRect">
            <a:avLst>
              <a:gd name="adj" fmla="val 12000"/>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0" y="2240280"/>
            <a:ext cx="1920239" cy="685800"/>
          </a:xfrm>
          <a:prstGeom prst="rect">
            <a:avLst/>
          </a:prstGeom>
          <a:noFill/>
        </p:spPr>
        <p:txBody>
          <a:bodyPr wrap="square" anchor="ctr" lIns="45720" rIns="45720">
            <a:spAutoFit/>
          </a:bodyPr>
          <a:lstStyle/>
          <a:p>
            <a:pPr algn="ctr"/>
            <a:r>
              <a:rPr sz="2600" b="1">
                <a:solidFill>
                  <a:srgbClr val="FFFFFF"/>
                </a:solidFill>
                <a:latin typeface="맑은 고딕"/>
                <a:ea typeface="맑은 고딕"/>
              </a:rPr>
              <a:t>아니요</a:t>
            </a:r>
          </a:p>
        </p:txBody>
      </p:sp>
      <p:sp>
        <p:nvSpPr>
          <p:cNvPr id="13" name="TextBox 12"/>
          <p:cNvSpPr txBox="1"/>
          <p:nvPr/>
        </p:nvSpPr>
        <p:spPr>
          <a:xfrm>
            <a:off x="548640" y="3108960"/>
            <a:ext cx="11064240" cy="548640"/>
          </a:xfrm>
          <a:prstGeom prst="rect">
            <a:avLst/>
          </a:prstGeom>
          <a:noFill/>
        </p:spPr>
        <p:txBody>
          <a:bodyPr wrap="square" anchor="t" lIns="45720" rIns="45720">
            <a:spAutoFit/>
          </a:bodyPr>
          <a:lstStyle/>
          <a:p>
            <a:pPr algn="ctr"/>
            <a:r>
              <a:rPr sz="2100" b="1">
                <a:solidFill>
                  <a:srgbClr val="0E7C86"/>
                </a:solidFill>
                <a:latin typeface="맑은 고딕"/>
                <a:ea typeface="맑은 고딕"/>
              </a:rPr>
              <a:t>① 장비 → ② 주체 → ③ 작업 → ④ 대가 → ⑤ 관계 → ⑥ 등록 → ⑦ 기록 → ⑧ 전달</a:t>
            </a:r>
          </a:p>
        </p:txBody>
      </p:sp>
      <p:sp>
        <p:nvSpPr>
          <p:cNvPr id="14" name="Rounded Rectangle 13"/>
          <p:cNvSpPr/>
          <p:nvPr/>
        </p:nvSpPr>
        <p:spPr>
          <a:xfrm>
            <a:off x="548640" y="3703320"/>
            <a:ext cx="11064240" cy="777240"/>
          </a:xfrm>
          <a:prstGeom prst="roundRect">
            <a:avLst>
              <a:gd name="adj" fmla="val 12000"/>
            </a:avLst>
          </a:prstGeom>
          <a:solidFill>
            <a:srgbClr val="FFF4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3703320"/>
            <a:ext cx="10881360" cy="777240"/>
          </a:xfrm>
          <a:prstGeom prst="rect">
            <a:avLst/>
          </a:prstGeom>
          <a:noFill/>
        </p:spPr>
        <p:txBody>
          <a:bodyPr wrap="square" anchor="ctr" lIns="45720" rIns="45720">
            <a:spAutoFit/>
          </a:bodyPr>
          <a:lstStyle/>
          <a:p>
            <a:pPr algn="ctr"/>
            <a:r>
              <a:rPr sz="3000" b="1">
                <a:solidFill>
                  <a:srgbClr val="1E293B"/>
                </a:solidFill>
                <a:latin typeface="맑은 고딕"/>
                <a:ea typeface="맑은 고딕"/>
              </a:rPr>
              <a:t>사실은 정확하게, 판단은 신중하게</a:t>
            </a:r>
          </a:p>
        </p:txBody>
      </p:sp>
      <p:sp>
        <p:nvSpPr>
          <p:cNvPr id="16" name="TextBox 15"/>
          <p:cNvSpPr txBox="1"/>
          <p:nvPr/>
        </p:nvSpPr>
        <p:spPr>
          <a:xfrm>
            <a:off x="548640" y="4572000"/>
            <a:ext cx="11064240" cy="731520"/>
          </a:xfrm>
          <a:prstGeom prst="rect">
            <a:avLst/>
          </a:prstGeom>
          <a:noFill/>
        </p:spPr>
        <p:txBody>
          <a:bodyPr wrap="square" anchor="t" lIns="45720" rIns="45720">
            <a:spAutoFit/>
          </a:bodyPr>
          <a:lstStyle/>
          <a:p>
            <a:pPr algn="l"/>
            <a:r>
              <a:rPr sz="1400" b="0">
                <a:solidFill>
                  <a:srgbClr val="5F6B7A"/>
                </a:solidFill>
                <a:latin typeface="맑은 고딕"/>
                <a:ea typeface="맑은 고딕"/>
              </a:rPr>
              <a:t>참고(교육 대상자용): 무등록 영업은 「건설기계관리법」 제40조제3항제4호 — 2년 이하 징역 또는 2천만원 이하 벌금</a:t>
            </a:r>
          </a:p>
          <a:p>
            <a:pPr algn="l"/>
            <a:r>
              <a:rPr sz="1400" b="0">
                <a:solidFill>
                  <a:srgbClr val="5F6B7A"/>
                </a:solidFill>
                <a:latin typeface="맑은 고딕"/>
                <a:ea typeface="맑은 고딕"/>
              </a:rPr>
              <a:t>2026년 10월 현행 법령 기준(법률 2026. 8. 28. 시행본, 시행령·시행규칙 2026. 3. 24. 시행본)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